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6" d="100"/>
          <a:sy n="96" d="100"/>
        </p:scale>
        <p:origin x="149"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6285FA-6A8E-4C37-90F9-44FEDEB7D644}" type="datetimeFigureOut">
              <a:rPr lang="en-IN" smtClean="0"/>
              <a:t>13-08-2026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F0A9AE-1D40-4CB4-ACE2-8B5902B02899}" type="slidenum">
              <a:rPr lang="en-IN" smtClean="0"/>
              <a:t>‹#›</a:t>
            </a:fld>
            <a:endParaRPr lang="en-IN"/>
          </a:p>
        </p:txBody>
      </p:sp>
    </p:spTree>
    <p:extLst>
      <p:ext uri="{BB962C8B-B14F-4D97-AF65-F5344CB8AC3E}">
        <p14:creationId xmlns:p14="http://schemas.microsoft.com/office/powerpoint/2010/main" val="2060834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EF0A9AE-1D40-4CB4-ACE2-8B5902B02899}" type="slidenum">
              <a:rPr lang="en-IN" smtClean="0"/>
              <a:t>4</a:t>
            </a:fld>
            <a:endParaRPr lang="en-IN"/>
          </a:p>
        </p:txBody>
      </p:sp>
    </p:spTree>
    <p:extLst>
      <p:ext uri="{BB962C8B-B14F-4D97-AF65-F5344CB8AC3E}">
        <p14:creationId xmlns:p14="http://schemas.microsoft.com/office/powerpoint/2010/main" val="3646475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image" Target="../media/image16.png"/><Relationship Id="rId16"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5.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image" Target="../media/image40.png"/><Relationship Id="rId16"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s>
</file>

<file path=ppt/slides/_rels/slide6.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4874418"/>
            <a:ext cx="5562600" cy="1885950"/>
          </a:xfrm>
          <a:prstGeom prst="rect">
            <a:avLst/>
          </a:prstGeom>
        </p:spPr>
      </p:pic>
      <p:pic>
        <p:nvPicPr>
          <p:cNvPr id="4" name="Picture 3" descr="image.png"/>
          <p:cNvPicPr>
            <a:picLocks noChangeAspect="1"/>
          </p:cNvPicPr>
          <p:nvPr/>
        </p:nvPicPr>
        <p:blipFill>
          <a:blip r:embed="rId4"/>
          <a:stretch>
            <a:fillRect/>
          </a:stretch>
        </p:blipFill>
        <p:spPr>
          <a:xfrm>
            <a:off x="6705600" y="0"/>
            <a:ext cx="5486400" cy="6858000"/>
          </a:xfrm>
          <a:prstGeom prst="rect">
            <a:avLst/>
          </a:prstGeom>
        </p:spPr>
      </p:pic>
      <p:sp>
        <p:nvSpPr>
          <p:cNvPr id="5" name="TextBox 4"/>
          <p:cNvSpPr txBox="1"/>
          <p:nvPr/>
        </p:nvSpPr>
        <p:spPr>
          <a:xfrm>
            <a:off x="571500" y="762000"/>
            <a:ext cx="5840730" cy="2559843"/>
          </a:xfrm>
          <a:prstGeom prst="rect">
            <a:avLst/>
          </a:prstGeom>
          <a:noFill/>
        </p:spPr>
        <p:txBody>
          <a:bodyPr wrap="square" lIns="0" tIns="0" rIns="0" bIns="0" anchor="t">
            <a:spAutoFit/>
          </a:bodyPr>
          <a:lstStyle/>
          <a:p>
            <a:pPr algn="l">
              <a:lnSpc>
                <a:spcPts val="5040"/>
              </a:lnSpc>
            </a:pPr>
            <a:r>
              <a:rPr sz="4200" b="0" i="0" u="none">
                <a:solidFill>
                  <a:srgbClr val="FFFFFF"/>
                </a:solidFill>
                <a:latin typeface="Poppins SemiBold"/>
              </a:rPr>
              <a:t>Intelligent </a:t>
            </a:r>
            <a:r>
              <a:rPr sz="4200" b="0" i="0" u="none">
                <a:solidFill>
                  <a:srgbClr val="00E5FF"/>
                </a:solidFill>
                <a:latin typeface="Poppins SemiBold"/>
              </a:rPr>
              <a:t>Digital Library</a:t>
            </a:r>
            <a:r>
              <a:rPr sz="4200" b="0" i="0" u="none">
                <a:solidFill>
                  <a:srgbClr val="FFFFFF"/>
                </a:solidFill>
                <a:latin typeface="Poppins SemiBold"/>
              </a:rPr>
              <a:t> Search &amp; Management System</a:t>
            </a:r>
          </a:p>
        </p:txBody>
      </p:sp>
      <p:sp>
        <p:nvSpPr>
          <p:cNvPr id="6" name="TextBox 5"/>
          <p:cNvSpPr txBox="1"/>
          <p:nvPr/>
        </p:nvSpPr>
        <p:spPr>
          <a:xfrm>
            <a:off x="571500" y="3512343"/>
            <a:ext cx="5562600" cy="742950"/>
          </a:xfrm>
          <a:prstGeom prst="rect">
            <a:avLst/>
          </a:prstGeom>
          <a:noFill/>
        </p:spPr>
        <p:txBody>
          <a:bodyPr wrap="square" lIns="0" tIns="0" rIns="0" bIns="0" anchor="t">
            <a:spAutoFit/>
          </a:bodyPr>
          <a:lstStyle/>
          <a:p>
            <a:pPr algn="l">
              <a:lnSpc>
                <a:spcPts val="2925"/>
              </a:lnSpc>
            </a:pPr>
            <a:r>
              <a:rPr sz="1950" b="0" i="0" u="none">
                <a:solidFill>
                  <a:srgbClr val="E2E8F0"/>
                </a:solidFill>
                <a:latin typeface="Inter Medium"/>
              </a:rPr>
              <a:t>A Data-Structure-Driven Approach for Fast and Intelligent Resource Search</a:t>
            </a:r>
          </a:p>
        </p:txBody>
      </p:sp>
      <p:sp>
        <p:nvSpPr>
          <p:cNvPr id="7" name="TextBox 6"/>
          <p:cNvSpPr txBox="1"/>
          <p:nvPr/>
        </p:nvSpPr>
        <p:spPr>
          <a:xfrm>
            <a:off x="571500" y="5122068"/>
            <a:ext cx="5562600" cy="285750"/>
          </a:xfrm>
          <a:prstGeom prst="rect">
            <a:avLst/>
          </a:prstGeom>
          <a:noFill/>
        </p:spPr>
        <p:txBody>
          <a:bodyPr wrap="square" lIns="0" tIns="0" rIns="0" bIns="0" anchor="t">
            <a:spAutoFit/>
          </a:bodyPr>
          <a:lstStyle/>
          <a:p>
            <a:pPr algn="l">
              <a:lnSpc>
                <a:spcPts val="2250"/>
              </a:lnSpc>
            </a:pPr>
            <a:r>
              <a:rPr sz="1500" b="1" i="0" u="none">
                <a:solidFill>
                  <a:srgbClr val="E2E8F0"/>
                </a:solidFill>
                <a:latin typeface="Inter"/>
              </a:rPr>
              <a:t>Department:</a:t>
            </a:r>
            <a:r>
              <a:rPr sz="1500" b="0" i="0" u="none">
                <a:solidFill>
                  <a:srgbClr val="94A3B8"/>
                </a:solidFill>
                <a:latin typeface="Inter"/>
              </a:rPr>
              <a:t> Computer Science and Engineering</a:t>
            </a:r>
          </a:p>
        </p:txBody>
      </p:sp>
      <p:sp>
        <p:nvSpPr>
          <p:cNvPr id="8" name="TextBox 7"/>
          <p:cNvSpPr txBox="1"/>
          <p:nvPr/>
        </p:nvSpPr>
        <p:spPr>
          <a:xfrm>
            <a:off x="571500" y="5484018"/>
            <a:ext cx="5562600" cy="271998"/>
          </a:xfrm>
          <a:prstGeom prst="rect">
            <a:avLst/>
          </a:prstGeom>
          <a:noFill/>
        </p:spPr>
        <p:txBody>
          <a:bodyPr wrap="square" lIns="0" tIns="0" rIns="0" bIns="0" anchor="t">
            <a:spAutoFit/>
          </a:bodyPr>
          <a:lstStyle/>
          <a:p>
            <a:pPr algn="l">
              <a:lnSpc>
                <a:spcPts val="2250"/>
              </a:lnSpc>
            </a:pPr>
            <a:r>
              <a:rPr sz="1500" b="1" i="0" u="none" dirty="0">
                <a:solidFill>
                  <a:srgbClr val="E2E8F0"/>
                </a:solidFill>
                <a:latin typeface="Inter"/>
              </a:rPr>
              <a:t>Course:</a:t>
            </a:r>
            <a:r>
              <a:rPr sz="1500" b="0" i="0" u="none" dirty="0">
                <a:solidFill>
                  <a:srgbClr val="94A3B8"/>
                </a:solidFill>
                <a:latin typeface="Inter"/>
              </a:rPr>
              <a:t> Data Structures and Algorithms</a:t>
            </a:r>
            <a:r>
              <a:rPr lang="en-US" sz="1500" dirty="0">
                <a:solidFill>
                  <a:srgbClr val="94A3B8"/>
                </a:solidFill>
                <a:latin typeface="Inter"/>
              </a:rPr>
              <a:t>-</a:t>
            </a:r>
            <a:r>
              <a:rPr lang="en-US" sz="1500" b="0" i="0" u="none" dirty="0">
                <a:solidFill>
                  <a:srgbClr val="94A3B8"/>
                </a:solidFill>
                <a:latin typeface="Inter"/>
              </a:rPr>
              <a:t>3</a:t>
            </a:r>
            <a:endParaRPr sz="1500" b="0" i="0" u="none" dirty="0">
              <a:solidFill>
                <a:srgbClr val="94A3B8"/>
              </a:solidFill>
              <a:latin typeface="Inter"/>
            </a:endParaRPr>
          </a:p>
        </p:txBody>
      </p:sp>
      <p:sp>
        <p:nvSpPr>
          <p:cNvPr id="9" name="TextBox 8"/>
          <p:cNvSpPr txBox="1"/>
          <p:nvPr/>
        </p:nvSpPr>
        <p:spPr>
          <a:xfrm>
            <a:off x="571500" y="5845968"/>
            <a:ext cx="5562600" cy="285750"/>
          </a:xfrm>
          <a:prstGeom prst="rect">
            <a:avLst/>
          </a:prstGeom>
          <a:noFill/>
        </p:spPr>
        <p:txBody>
          <a:bodyPr wrap="square" lIns="0" tIns="0" rIns="0" bIns="0" anchor="t">
            <a:spAutoFit/>
          </a:bodyPr>
          <a:lstStyle/>
          <a:p>
            <a:pPr algn="l">
              <a:lnSpc>
                <a:spcPts val="2250"/>
              </a:lnSpc>
            </a:pPr>
            <a:r>
              <a:rPr sz="1500" b="1" i="0" u="none">
                <a:solidFill>
                  <a:srgbClr val="E2E8F0"/>
                </a:solidFill>
                <a:latin typeface="Inter"/>
              </a:rPr>
              <a:t>Institution:</a:t>
            </a:r>
            <a:r>
              <a:rPr sz="1500" b="0" i="0" u="none">
                <a:solidFill>
                  <a:srgbClr val="94A3B8"/>
                </a:solidFill>
                <a:latin typeface="Inter"/>
              </a:rPr>
              <a:t> KLH University</a:t>
            </a:r>
          </a:p>
        </p:txBody>
      </p:sp>
      <p:sp>
        <p:nvSpPr>
          <p:cNvPr id="10" name="TextBox 9"/>
          <p:cNvSpPr txBox="1"/>
          <p:nvPr/>
        </p:nvSpPr>
        <p:spPr>
          <a:xfrm>
            <a:off x="571500" y="6398418"/>
            <a:ext cx="5562600" cy="271998"/>
          </a:xfrm>
          <a:prstGeom prst="rect">
            <a:avLst/>
          </a:prstGeom>
          <a:noFill/>
        </p:spPr>
        <p:txBody>
          <a:bodyPr wrap="square" lIns="0" tIns="0" rIns="0" bIns="0" anchor="t">
            <a:spAutoFit/>
          </a:bodyPr>
          <a:lstStyle/>
          <a:p>
            <a:pPr algn="l">
              <a:lnSpc>
                <a:spcPts val="2250"/>
              </a:lnSpc>
            </a:pPr>
            <a:r>
              <a:rPr sz="1500" b="1" i="0" u="none" dirty="0">
                <a:solidFill>
                  <a:srgbClr val="E2E8F0"/>
                </a:solidFill>
                <a:latin typeface="Inter"/>
              </a:rPr>
              <a:t>Team Members:</a:t>
            </a:r>
            <a:r>
              <a:rPr sz="1500" b="0" i="0" u="none" dirty="0">
                <a:solidFill>
                  <a:srgbClr val="94A3B8"/>
                </a:solidFill>
                <a:latin typeface="Inter"/>
              </a:rPr>
              <a:t> [</a:t>
            </a:r>
            <a:r>
              <a:rPr lang="en-US" sz="1500" dirty="0">
                <a:solidFill>
                  <a:srgbClr val="94A3B8"/>
                </a:solidFill>
                <a:latin typeface="Inter"/>
              </a:rPr>
              <a:t>Nihal</a:t>
            </a:r>
            <a:r>
              <a:rPr sz="1500" b="0" i="0" u="none" dirty="0">
                <a:solidFill>
                  <a:srgbClr val="94A3B8"/>
                </a:solidFill>
                <a:latin typeface="Inter"/>
              </a:rPr>
              <a:t>], [</a:t>
            </a:r>
            <a:r>
              <a:rPr lang="en-US" sz="1500" b="0" i="0" u="none" dirty="0">
                <a:solidFill>
                  <a:srgbClr val="94A3B8"/>
                </a:solidFill>
                <a:latin typeface="Inter"/>
              </a:rPr>
              <a:t>Sathwik</a:t>
            </a:r>
            <a:r>
              <a:rPr sz="1500" b="0" i="0" u="none" dirty="0">
                <a:solidFill>
                  <a:srgbClr val="94A3B8"/>
                </a:solidFill>
                <a:latin typeface="Inter"/>
              </a:rPr>
              <a:t>], [</a:t>
            </a:r>
            <a:r>
              <a:rPr lang="en-US" sz="1500" dirty="0" err="1">
                <a:solidFill>
                  <a:srgbClr val="94A3B8"/>
                </a:solidFill>
                <a:latin typeface="Inter"/>
              </a:rPr>
              <a:t>Nithish</a:t>
            </a:r>
            <a:r>
              <a:rPr sz="1500" b="0" i="0" u="none" dirty="0">
                <a:solidFill>
                  <a:srgbClr val="94A3B8"/>
                </a:solidFill>
                <a:latin typeface="Inter"/>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333500" y="6017567"/>
            <a:ext cx="1485900" cy="476250"/>
          </a:xfrm>
          <a:prstGeom prst="rect">
            <a:avLst/>
          </a:prstGeom>
        </p:spPr>
      </p:pic>
      <p:pic>
        <p:nvPicPr>
          <p:cNvPr id="3" name="Picture 2" descr="image.png"/>
          <p:cNvPicPr>
            <a:picLocks noChangeAspect="1"/>
          </p:cNvPicPr>
          <p:nvPr/>
        </p:nvPicPr>
        <p:blipFill>
          <a:blip r:embed="rId3"/>
          <a:stretch>
            <a:fillRect/>
          </a:stretch>
        </p:blipFill>
        <p:spPr>
          <a:xfrm>
            <a:off x="2962275" y="6017567"/>
            <a:ext cx="1333500" cy="476250"/>
          </a:xfrm>
          <a:prstGeom prst="rect">
            <a:avLst/>
          </a:prstGeom>
        </p:spPr>
      </p:pic>
      <p:pic>
        <p:nvPicPr>
          <p:cNvPr id="4" name="Picture 3" descr="image.png"/>
          <p:cNvPicPr>
            <a:picLocks noChangeAspect="1"/>
          </p:cNvPicPr>
          <p:nvPr/>
        </p:nvPicPr>
        <p:blipFill>
          <a:blip r:embed="rId4"/>
          <a:stretch>
            <a:fillRect/>
          </a:stretch>
        </p:blipFill>
        <p:spPr>
          <a:xfrm>
            <a:off x="4438650" y="6017567"/>
            <a:ext cx="1095375" cy="476250"/>
          </a:xfrm>
          <a:prstGeom prst="rect">
            <a:avLst/>
          </a:prstGeom>
        </p:spPr>
      </p:pic>
      <p:pic>
        <p:nvPicPr>
          <p:cNvPr id="5" name="Picture 4" descr="image.png"/>
          <p:cNvPicPr>
            <a:picLocks noChangeAspect="1"/>
          </p:cNvPicPr>
          <p:nvPr/>
        </p:nvPicPr>
        <p:blipFill>
          <a:blip r:embed="rId5"/>
          <a:stretch>
            <a:fillRect/>
          </a:stretch>
        </p:blipFill>
        <p:spPr>
          <a:xfrm>
            <a:off x="5676900" y="6017567"/>
            <a:ext cx="1343025" cy="476250"/>
          </a:xfrm>
          <a:prstGeom prst="rect">
            <a:avLst/>
          </a:prstGeom>
        </p:spPr>
      </p:pic>
      <p:pic>
        <p:nvPicPr>
          <p:cNvPr id="6" name="Picture 5" descr="image.png"/>
          <p:cNvPicPr>
            <a:picLocks noChangeAspect="1"/>
          </p:cNvPicPr>
          <p:nvPr/>
        </p:nvPicPr>
        <p:blipFill>
          <a:blip r:embed="rId6"/>
          <a:stretch>
            <a:fillRect/>
          </a:stretch>
        </p:blipFill>
        <p:spPr>
          <a:xfrm>
            <a:off x="7162800" y="6017567"/>
            <a:ext cx="1828800" cy="476250"/>
          </a:xfrm>
          <a:prstGeom prst="rect">
            <a:avLst/>
          </a:prstGeom>
        </p:spPr>
      </p:pic>
      <p:pic>
        <p:nvPicPr>
          <p:cNvPr id="7" name="Picture 6" descr="image.png"/>
          <p:cNvPicPr>
            <a:picLocks noChangeAspect="1"/>
          </p:cNvPicPr>
          <p:nvPr/>
        </p:nvPicPr>
        <p:blipFill>
          <a:blip r:embed="rId7"/>
          <a:stretch>
            <a:fillRect/>
          </a:stretch>
        </p:blipFill>
        <p:spPr>
          <a:xfrm>
            <a:off x="9134475" y="6017567"/>
            <a:ext cx="1724025" cy="476250"/>
          </a:xfrm>
          <a:prstGeom prst="rect">
            <a:avLst/>
          </a:prstGeom>
        </p:spPr>
      </p:pic>
      <p:sp>
        <p:nvSpPr>
          <p:cNvPr id="8" name="TextBox 7"/>
          <p:cNvSpPr txBox="1"/>
          <p:nvPr/>
        </p:nvSpPr>
        <p:spPr>
          <a:xfrm>
            <a:off x="762000" y="364182"/>
            <a:ext cx="11401425" cy="548580"/>
          </a:xfrm>
          <a:prstGeom prst="rect">
            <a:avLst/>
          </a:prstGeom>
          <a:noFill/>
        </p:spPr>
        <p:txBody>
          <a:bodyPr wrap="square" lIns="0" tIns="0" rIns="0" bIns="0" anchor="t">
            <a:spAutoFit/>
          </a:bodyPr>
          <a:lstStyle/>
          <a:p>
            <a:pPr algn="l">
              <a:lnSpc>
                <a:spcPts val="4320"/>
              </a:lnSpc>
            </a:pPr>
            <a:r>
              <a:rPr sz="3600" b="0" i="0" u="none">
                <a:solidFill>
                  <a:srgbClr val="0B132B"/>
                </a:solidFill>
                <a:latin typeface="Poppins SemiBold"/>
              </a:rPr>
              <a:t>Abstract</a:t>
            </a:r>
          </a:p>
        </p:txBody>
      </p:sp>
      <p:sp>
        <p:nvSpPr>
          <p:cNvPr id="9" name="Rectangle 8"/>
          <p:cNvSpPr/>
          <p:nvPr/>
        </p:nvSpPr>
        <p:spPr>
          <a:xfrm>
            <a:off x="571500" y="364182"/>
            <a:ext cx="57150" cy="548580"/>
          </a:xfrm>
          <a:prstGeom prst="rect">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33500" y="1293762"/>
            <a:ext cx="9525000" cy="1980902"/>
          </a:xfrm>
          <a:prstGeom prst="rect">
            <a:avLst/>
          </a:prstGeom>
          <a:noFill/>
        </p:spPr>
        <p:txBody>
          <a:bodyPr wrap="square" lIns="0" tIns="0" rIns="0" bIns="0" anchor="t">
            <a:spAutoFit/>
          </a:bodyPr>
          <a:lstStyle/>
          <a:p>
            <a:pPr algn="l">
              <a:lnSpc>
                <a:spcPts val="3120"/>
              </a:lnSpc>
            </a:pPr>
            <a:r>
              <a:rPr sz="1950" b="0" i="0" u="none">
                <a:solidFill>
                  <a:srgbClr val="334155"/>
                </a:solidFill>
                <a:latin typeface="Inter"/>
              </a:rPr>
              <a:t>The Digital Library Search System is a data-structure-driven application designed to efficiently manage and retrieve thousands of books, journals, magazines, and research papers. The system addresses the challenge of quickly finding relevant resources using search criteria such as title, author, ISBN, category, and keywords.</a:t>
            </a:r>
          </a:p>
        </p:txBody>
      </p:sp>
      <p:sp>
        <p:nvSpPr>
          <p:cNvPr id="11" name="TextBox 10"/>
          <p:cNvSpPr txBox="1"/>
          <p:nvPr/>
        </p:nvSpPr>
        <p:spPr>
          <a:xfrm>
            <a:off x="1333500" y="3655665"/>
            <a:ext cx="9525000" cy="1980902"/>
          </a:xfrm>
          <a:prstGeom prst="rect">
            <a:avLst/>
          </a:prstGeom>
          <a:noFill/>
        </p:spPr>
        <p:txBody>
          <a:bodyPr wrap="square" lIns="0" tIns="0" rIns="0" bIns="0" anchor="t">
            <a:spAutoFit/>
          </a:bodyPr>
          <a:lstStyle/>
          <a:p>
            <a:pPr algn="l">
              <a:lnSpc>
                <a:spcPts val="3120"/>
              </a:lnSpc>
            </a:pPr>
            <a:r>
              <a:rPr sz="1950" b="0" i="0" u="none">
                <a:solidFill>
                  <a:srgbClr val="334155"/>
                </a:solidFill>
                <a:latin typeface="Inter"/>
              </a:rPr>
              <a:t>Hash tables provide fast lookup based on unique identifiers, while Binary Search Trees or AVL trees maintain sorted order. A Trie enables prefix-based searches and autocomplete, and a Graph represents relationships between resources. These data structures eliminate sequential searching, drastically improving scalability and responsiveness.</a:t>
            </a:r>
          </a:p>
        </p:txBody>
      </p:sp>
      <p:pic>
        <p:nvPicPr>
          <p:cNvPr id="12" name="Picture 11" descr="image.png"/>
          <p:cNvPicPr>
            <a:picLocks noChangeAspect="1"/>
          </p:cNvPicPr>
          <p:nvPr/>
        </p:nvPicPr>
        <p:blipFill>
          <a:blip r:embed="rId8"/>
          <a:stretch>
            <a:fillRect/>
          </a:stretch>
        </p:blipFill>
        <p:spPr>
          <a:xfrm>
            <a:off x="1571625" y="6160442"/>
            <a:ext cx="161925" cy="190500"/>
          </a:xfrm>
          <a:prstGeom prst="rect">
            <a:avLst/>
          </a:prstGeom>
        </p:spPr>
      </p:pic>
      <p:pic>
        <p:nvPicPr>
          <p:cNvPr id="13" name="Picture 12" descr="image.png"/>
          <p:cNvPicPr>
            <a:picLocks noChangeAspect="1"/>
          </p:cNvPicPr>
          <p:nvPr/>
        </p:nvPicPr>
        <p:blipFill>
          <a:blip r:embed="rId9"/>
          <a:stretch>
            <a:fillRect/>
          </a:stretch>
        </p:blipFill>
        <p:spPr>
          <a:xfrm>
            <a:off x="3200400" y="6160442"/>
            <a:ext cx="238125" cy="190500"/>
          </a:xfrm>
          <a:prstGeom prst="rect">
            <a:avLst/>
          </a:prstGeom>
        </p:spPr>
      </p:pic>
      <p:pic>
        <p:nvPicPr>
          <p:cNvPr id="14" name="Picture 13" descr="image.png"/>
          <p:cNvPicPr>
            <a:picLocks noChangeAspect="1"/>
          </p:cNvPicPr>
          <p:nvPr/>
        </p:nvPicPr>
        <p:blipFill>
          <a:blip r:embed="rId10"/>
          <a:stretch>
            <a:fillRect/>
          </a:stretch>
        </p:blipFill>
        <p:spPr>
          <a:xfrm>
            <a:off x="4676775" y="6160442"/>
            <a:ext cx="171450" cy="190500"/>
          </a:xfrm>
          <a:prstGeom prst="rect">
            <a:avLst/>
          </a:prstGeom>
        </p:spPr>
      </p:pic>
      <p:pic>
        <p:nvPicPr>
          <p:cNvPr id="15" name="Picture 14" descr="image.png"/>
          <p:cNvPicPr>
            <a:picLocks noChangeAspect="1"/>
          </p:cNvPicPr>
          <p:nvPr/>
        </p:nvPicPr>
        <p:blipFill>
          <a:blip r:embed="rId11"/>
          <a:stretch>
            <a:fillRect/>
          </a:stretch>
        </p:blipFill>
        <p:spPr>
          <a:xfrm>
            <a:off x="5915025" y="6160442"/>
            <a:ext cx="219075" cy="190500"/>
          </a:xfrm>
          <a:prstGeom prst="rect">
            <a:avLst/>
          </a:prstGeom>
        </p:spPr>
      </p:pic>
      <p:pic>
        <p:nvPicPr>
          <p:cNvPr id="16" name="Picture 15" descr="image.png"/>
          <p:cNvPicPr>
            <a:picLocks noChangeAspect="1"/>
          </p:cNvPicPr>
          <p:nvPr/>
        </p:nvPicPr>
        <p:blipFill>
          <a:blip r:embed="rId12"/>
          <a:stretch>
            <a:fillRect/>
          </a:stretch>
        </p:blipFill>
        <p:spPr>
          <a:xfrm>
            <a:off x="7400925" y="6160442"/>
            <a:ext cx="171450" cy="190500"/>
          </a:xfrm>
          <a:prstGeom prst="rect">
            <a:avLst/>
          </a:prstGeom>
        </p:spPr>
      </p:pic>
      <p:pic>
        <p:nvPicPr>
          <p:cNvPr id="17" name="Picture 16" descr="image.png"/>
          <p:cNvPicPr>
            <a:picLocks noChangeAspect="1"/>
          </p:cNvPicPr>
          <p:nvPr/>
        </p:nvPicPr>
        <p:blipFill>
          <a:blip r:embed="rId13"/>
          <a:stretch>
            <a:fillRect/>
          </a:stretch>
        </p:blipFill>
        <p:spPr>
          <a:xfrm>
            <a:off x="9372600" y="6160442"/>
            <a:ext cx="219075" cy="190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62943" y="5017740"/>
            <a:ext cx="5238750" cy="1638300"/>
          </a:xfrm>
          <a:prstGeom prst="rect">
            <a:avLst/>
          </a:prstGeom>
        </p:spPr>
      </p:pic>
      <p:pic>
        <p:nvPicPr>
          <p:cNvPr id="3" name="Picture 2" descr="image.png"/>
          <p:cNvPicPr>
            <a:picLocks noChangeAspect="1"/>
          </p:cNvPicPr>
          <p:nvPr/>
        </p:nvPicPr>
        <p:blipFill>
          <a:blip r:embed="rId3"/>
          <a:stretch>
            <a:fillRect/>
          </a:stretch>
        </p:blipFill>
        <p:spPr>
          <a:xfrm>
            <a:off x="6381750" y="1950690"/>
            <a:ext cx="5238750" cy="1800225"/>
          </a:xfrm>
          <a:prstGeom prst="rect">
            <a:avLst/>
          </a:prstGeom>
        </p:spPr>
      </p:pic>
      <p:pic>
        <p:nvPicPr>
          <p:cNvPr id="4" name="Picture 3" descr="image.png"/>
          <p:cNvPicPr>
            <a:picLocks noChangeAspect="1"/>
          </p:cNvPicPr>
          <p:nvPr/>
        </p:nvPicPr>
        <p:blipFill>
          <a:blip r:embed="rId4"/>
          <a:stretch>
            <a:fillRect/>
          </a:stretch>
        </p:blipFill>
        <p:spPr>
          <a:xfrm>
            <a:off x="6381750" y="4036665"/>
            <a:ext cx="5238750" cy="1800225"/>
          </a:xfrm>
          <a:prstGeom prst="rect">
            <a:avLst/>
          </a:prstGeom>
        </p:spPr>
      </p:pic>
      <p:sp>
        <p:nvSpPr>
          <p:cNvPr id="5" name="TextBox 4"/>
          <p:cNvSpPr txBox="1"/>
          <p:nvPr/>
        </p:nvSpPr>
        <p:spPr>
          <a:xfrm>
            <a:off x="762000" y="120700"/>
            <a:ext cx="11401425" cy="548580"/>
          </a:xfrm>
          <a:prstGeom prst="rect">
            <a:avLst/>
          </a:prstGeom>
          <a:noFill/>
        </p:spPr>
        <p:txBody>
          <a:bodyPr wrap="square" lIns="0" tIns="0" rIns="0" bIns="0" anchor="t">
            <a:spAutoFit/>
          </a:bodyPr>
          <a:lstStyle/>
          <a:p>
            <a:pPr algn="l">
              <a:lnSpc>
                <a:spcPts val="4320"/>
              </a:lnSpc>
            </a:pPr>
            <a:r>
              <a:rPr sz="3600" b="0" i="0" u="none" dirty="0">
                <a:solidFill>
                  <a:srgbClr val="0B132B"/>
                </a:solidFill>
                <a:latin typeface="Poppins SemiBold"/>
              </a:rPr>
              <a:t>Problem Statement</a:t>
            </a:r>
          </a:p>
        </p:txBody>
      </p:sp>
      <p:sp>
        <p:nvSpPr>
          <p:cNvPr id="6" name="Rectangle 5"/>
          <p:cNvSpPr/>
          <p:nvPr/>
        </p:nvSpPr>
        <p:spPr>
          <a:xfrm>
            <a:off x="571500" y="120700"/>
            <a:ext cx="57150" cy="548580"/>
          </a:xfrm>
          <a:prstGeom prst="rect">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2500" y="836265"/>
            <a:ext cx="4857750" cy="685800"/>
          </a:xfrm>
          <a:prstGeom prst="rect">
            <a:avLst/>
          </a:prstGeom>
          <a:noFill/>
        </p:spPr>
        <p:txBody>
          <a:bodyPr wrap="square" lIns="0" tIns="0" rIns="0" bIns="0" anchor="t">
            <a:spAutoFit/>
          </a:bodyPr>
          <a:lstStyle/>
          <a:p>
            <a:pPr algn="l">
              <a:lnSpc>
                <a:spcPts val="2700"/>
              </a:lnSpc>
            </a:pPr>
            <a:r>
              <a:rPr sz="1800" b="0" i="0" u="none">
                <a:solidFill>
                  <a:srgbClr val="334155"/>
                </a:solidFill>
                <a:latin typeface="Inter"/>
              </a:rPr>
              <a:t>Traditional libraries contain thousands of books and academic resources.</a:t>
            </a:r>
          </a:p>
        </p:txBody>
      </p:sp>
      <p:sp>
        <p:nvSpPr>
          <p:cNvPr id="8" name="TextBox 7"/>
          <p:cNvSpPr txBox="1"/>
          <p:nvPr/>
        </p:nvSpPr>
        <p:spPr>
          <a:xfrm>
            <a:off x="952500" y="1712565"/>
            <a:ext cx="4857750" cy="685800"/>
          </a:xfrm>
          <a:prstGeom prst="rect">
            <a:avLst/>
          </a:prstGeom>
          <a:noFill/>
        </p:spPr>
        <p:txBody>
          <a:bodyPr wrap="square" lIns="0" tIns="0" rIns="0" bIns="0" anchor="t">
            <a:spAutoFit/>
          </a:bodyPr>
          <a:lstStyle/>
          <a:p>
            <a:pPr algn="l">
              <a:lnSpc>
                <a:spcPts val="2700"/>
              </a:lnSpc>
            </a:pPr>
            <a:r>
              <a:rPr sz="1800" b="0" i="0" u="none">
                <a:solidFill>
                  <a:srgbClr val="334155"/>
                </a:solidFill>
                <a:latin typeface="Inter"/>
              </a:rPr>
              <a:t>Manually searching through large collections is severely time-consuming.</a:t>
            </a:r>
          </a:p>
        </p:txBody>
      </p:sp>
      <p:sp>
        <p:nvSpPr>
          <p:cNvPr id="9" name="TextBox 8"/>
          <p:cNvSpPr txBox="1"/>
          <p:nvPr/>
        </p:nvSpPr>
        <p:spPr>
          <a:xfrm>
            <a:off x="952500" y="2588865"/>
            <a:ext cx="4857750" cy="685800"/>
          </a:xfrm>
          <a:prstGeom prst="rect">
            <a:avLst/>
          </a:prstGeom>
          <a:noFill/>
        </p:spPr>
        <p:txBody>
          <a:bodyPr wrap="square" lIns="0" tIns="0" rIns="0" bIns="0" anchor="t">
            <a:spAutoFit/>
          </a:bodyPr>
          <a:lstStyle/>
          <a:p>
            <a:pPr algn="l">
              <a:lnSpc>
                <a:spcPts val="2700"/>
              </a:lnSpc>
            </a:pPr>
            <a:r>
              <a:rPr sz="1800" b="0" i="0" u="none">
                <a:solidFill>
                  <a:srgbClr val="334155"/>
                </a:solidFill>
                <a:latin typeface="Inter"/>
              </a:rPr>
              <a:t>Basic keyword or linear search becomes highly inefficient as the collection grows.</a:t>
            </a:r>
          </a:p>
        </p:txBody>
      </p:sp>
      <p:sp>
        <p:nvSpPr>
          <p:cNvPr id="10" name="TextBox 9"/>
          <p:cNvSpPr txBox="1"/>
          <p:nvPr/>
        </p:nvSpPr>
        <p:spPr>
          <a:xfrm>
            <a:off x="952500" y="3465165"/>
            <a:ext cx="4857750" cy="685800"/>
          </a:xfrm>
          <a:prstGeom prst="rect">
            <a:avLst/>
          </a:prstGeom>
          <a:noFill/>
        </p:spPr>
        <p:txBody>
          <a:bodyPr wrap="square" lIns="0" tIns="0" rIns="0" bIns="0" anchor="t">
            <a:spAutoFit/>
          </a:bodyPr>
          <a:lstStyle/>
          <a:p>
            <a:pPr algn="l">
              <a:lnSpc>
                <a:spcPts val="2700"/>
              </a:lnSpc>
            </a:pPr>
            <a:r>
              <a:rPr sz="1800" b="0" i="0" u="none">
                <a:solidFill>
                  <a:srgbClr val="334155"/>
                </a:solidFill>
                <a:latin typeface="Inter"/>
              </a:rPr>
              <a:t>Users need to search using multiple attributes concurrently (title, author, ISBN).</a:t>
            </a:r>
          </a:p>
        </p:txBody>
      </p:sp>
      <p:sp>
        <p:nvSpPr>
          <p:cNvPr id="11" name="TextBox 10"/>
          <p:cNvSpPr txBox="1"/>
          <p:nvPr/>
        </p:nvSpPr>
        <p:spPr>
          <a:xfrm>
            <a:off x="952500" y="4341465"/>
            <a:ext cx="4857750" cy="685800"/>
          </a:xfrm>
          <a:prstGeom prst="rect">
            <a:avLst/>
          </a:prstGeom>
          <a:noFill/>
        </p:spPr>
        <p:txBody>
          <a:bodyPr wrap="square" lIns="0" tIns="0" rIns="0" bIns="0" anchor="t">
            <a:spAutoFit/>
          </a:bodyPr>
          <a:lstStyle/>
          <a:p>
            <a:pPr algn="l">
              <a:lnSpc>
                <a:spcPts val="2700"/>
              </a:lnSpc>
            </a:pPr>
            <a:r>
              <a:rPr sz="1800" b="0" i="0" u="none">
                <a:solidFill>
                  <a:srgbClr val="334155"/>
                </a:solidFill>
                <a:latin typeface="Inter"/>
              </a:rPr>
              <a:t>Modern users expect autocomplete, related-resource discovery, and instant results.</a:t>
            </a:r>
          </a:p>
        </p:txBody>
      </p:sp>
      <p:sp>
        <p:nvSpPr>
          <p:cNvPr id="12" name="TextBox 11"/>
          <p:cNvSpPr txBox="1"/>
          <p:nvPr/>
        </p:nvSpPr>
        <p:spPr>
          <a:xfrm>
            <a:off x="819150" y="5503515"/>
            <a:ext cx="4800600" cy="1257300"/>
          </a:xfrm>
          <a:prstGeom prst="rect">
            <a:avLst/>
          </a:prstGeom>
          <a:noFill/>
        </p:spPr>
        <p:txBody>
          <a:bodyPr wrap="square" lIns="0" tIns="0" rIns="0" bIns="0" anchor="t">
            <a:spAutoFit/>
          </a:bodyPr>
          <a:lstStyle/>
          <a:p>
            <a:pPr algn="l">
              <a:lnSpc>
                <a:spcPts val="2475"/>
              </a:lnSpc>
            </a:pPr>
            <a:r>
              <a:rPr sz="1650" b="1" i="0" u="none" dirty="0">
                <a:solidFill>
                  <a:srgbClr val="92400E"/>
                </a:solidFill>
                <a:latin typeface="Inter"/>
              </a:rPr>
              <a:t>Key DSA Challenge:</a:t>
            </a:r>
            <a:r>
              <a:rPr sz="1650" b="0" i="0" u="none" dirty="0">
                <a:solidFill>
                  <a:srgbClr val="92400E"/>
                </a:solidFill>
                <a:latin typeface="Inter Medium"/>
              </a:rPr>
              <a:t> How can appropriate data structures reduce search time and improve resource discovery in a large-scale digital library?</a:t>
            </a:r>
          </a:p>
        </p:txBody>
      </p:sp>
      <p:sp>
        <p:nvSpPr>
          <p:cNvPr id="13" name="TextBox 12"/>
          <p:cNvSpPr txBox="1"/>
          <p:nvPr/>
        </p:nvSpPr>
        <p:spPr>
          <a:xfrm>
            <a:off x="6677025" y="2245965"/>
            <a:ext cx="4880610" cy="333375"/>
          </a:xfrm>
          <a:prstGeom prst="rect">
            <a:avLst/>
          </a:prstGeom>
          <a:noFill/>
        </p:spPr>
        <p:txBody>
          <a:bodyPr wrap="square" lIns="314325" tIns="0" rIns="0" bIns="0" anchor="t">
            <a:spAutoFit/>
          </a:bodyPr>
          <a:lstStyle/>
          <a:p>
            <a:pPr algn="l"/>
            <a:r>
              <a:rPr sz="1650" b="1" i="0" u="none">
                <a:solidFill>
                  <a:srgbClr val="0F172A"/>
                </a:solidFill>
                <a:latin typeface="Poppins"/>
              </a:rPr>
              <a:t>Traditional Search</a:t>
            </a:r>
          </a:p>
        </p:txBody>
      </p:sp>
      <p:sp>
        <p:nvSpPr>
          <p:cNvPr id="14" name="Rectangle 13"/>
          <p:cNvSpPr/>
          <p:nvPr/>
        </p:nvSpPr>
        <p:spPr>
          <a:xfrm>
            <a:off x="6677025" y="2655540"/>
            <a:ext cx="46482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7025" y="4331940"/>
            <a:ext cx="4880610" cy="333375"/>
          </a:xfrm>
          <a:prstGeom prst="rect">
            <a:avLst/>
          </a:prstGeom>
          <a:noFill/>
        </p:spPr>
        <p:txBody>
          <a:bodyPr wrap="square" lIns="285750" tIns="0" rIns="0" bIns="0" anchor="t">
            <a:spAutoFit/>
          </a:bodyPr>
          <a:lstStyle/>
          <a:p>
            <a:pPr algn="l"/>
            <a:r>
              <a:rPr sz="1650" b="1" i="0" u="none">
                <a:solidFill>
                  <a:srgbClr val="3A86FF"/>
                </a:solidFill>
                <a:latin typeface="Poppins"/>
              </a:rPr>
              <a:t>Proposed System</a:t>
            </a:r>
          </a:p>
        </p:txBody>
      </p:sp>
      <p:sp>
        <p:nvSpPr>
          <p:cNvPr id="16" name="Rectangle 15"/>
          <p:cNvSpPr/>
          <p:nvPr/>
        </p:nvSpPr>
        <p:spPr>
          <a:xfrm>
            <a:off x="6677025" y="4741515"/>
            <a:ext cx="4648200" cy="19050"/>
          </a:xfrm>
          <a:prstGeom prst="rect">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png"/>
          <p:cNvPicPr>
            <a:picLocks noChangeAspect="1"/>
          </p:cNvPicPr>
          <p:nvPr/>
        </p:nvPicPr>
        <p:blipFill>
          <a:blip r:embed="rId5"/>
          <a:stretch>
            <a:fillRect/>
          </a:stretch>
        </p:blipFill>
        <p:spPr>
          <a:xfrm>
            <a:off x="6677025" y="2293590"/>
            <a:ext cx="238125" cy="209550"/>
          </a:xfrm>
          <a:prstGeom prst="rect">
            <a:avLst/>
          </a:prstGeom>
        </p:spPr>
      </p:pic>
      <p:pic>
        <p:nvPicPr>
          <p:cNvPr id="18" name="Picture 17" descr="image.png"/>
          <p:cNvPicPr>
            <a:picLocks noChangeAspect="1"/>
          </p:cNvPicPr>
          <p:nvPr/>
        </p:nvPicPr>
        <p:blipFill>
          <a:blip r:embed="rId6"/>
          <a:stretch>
            <a:fillRect/>
          </a:stretch>
        </p:blipFill>
        <p:spPr>
          <a:xfrm>
            <a:off x="8101905" y="3065115"/>
            <a:ext cx="171450" cy="190500"/>
          </a:xfrm>
          <a:prstGeom prst="rect">
            <a:avLst/>
          </a:prstGeom>
        </p:spPr>
      </p:pic>
      <p:pic>
        <p:nvPicPr>
          <p:cNvPr id="19" name="Picture 18" descr="image.png"/>
          <p:cNvPicPr>
            <a:picLocks noChangeAspect="1"/>
          </p:cNvPicPr>
          <p:nvPr/>
        </p:nvPicPr>
        <p:blipFill>
          <a:blip r:embed="rId7"/>
          <a:stretch>
            <a:fillRect/>
          </a:stretch>
        </p:blipFill>
        <p:spPr>
          <a:xfrm>
            <a:off x="9728745" y="3065115"/>
            <a:ext cx="171450" cy="190500"/>
          </a:xfrm>
          <a:prstGeom prst="rect">
            <a:avLst/>
          </a:prstGeom>
        </p:spPr>
      </p:pic>
      <p:pic>
        <p:nvPicPr>
          <p:cNvPr id="20" name="Picture 19" descr="image.png"/>
          <p:cNvPicPr>
            <a:picLocks noChangeAspect="1"/>
          </p:cNvPicPr>
          <p:nvPr/>
        </p:nvPicPr>
        <p:blipFill>
          <a:blip r:embed="rId8"/>
          <a:stretch>
            <a:fillRect/>
          </a:stretch>
        </p:blipFill>
        <p:spPr>
          <a:xfrm>
            <a:off x="6677025" y="4379565"/>
            <a:ext cx="209550" cy="209550"/>
          </a:xfrm>
          <a:prstGeom prst="rect">
            <a:avLst/>
          </a:prstGeom>
        </p:spPr>
      </p:pic>
      <p:pic>
        <p:nvPicPr>
          <p:cNvPr id="21" name="Picture 20" descr="image.png"/>
          <p:cNvPicPr>
            <a:picLocks noChangeAspect="1"/>
          </p:cNvPicPr>
          <p:nvPr/>
        </p:nvPicPr>
        <p:blipFill>
          <a:blip r:embed="rId9"/>
          <a:stretch>
            <a:fillRect/>
          </a:stretch>
        </p:blipFill>
        <p:spPr>
          <a:xfrm>
            <a:off x="8101905" y="5151090"/>
            <a:ext cx="171450" cy="190500"/>
          </a:xfrm>
          <a:prstGeom prst="rect">
            <a:avLst/>
          </a:prstGeom>
        </p:spPr>
      </p:pic>
      <p:pic>
        <p:nvPicPr>
          <p:cNvPr id="22" name="Picture 21" descr="image.png"/>
          <p:cNvPicPr>
            <a:picLocks noChangeAspect="1"/>
          </p:cNvPicPr>
          <p:nvPr/>
        </p:nvPicPr>
        <p:blipFill>
          <a:blip r:embed="rId10"/>
          <a:stretch>
            <a:fillRect/>
          </a:stretch>
        </p:blipFill>
        <p:spPr>
          <a:xfrm>
            <a:off x="9728745" y="5151090"/>
            <a:ext cx="171450" cy="190500"/>
          </a:xfrm>
          <a:prstGeom prst="rect">
            <a:avLst/>
          </a:prstGeom>
        </p:spPr>
      </p:pic>
      <p:pic>
        <p:nvPicPr>
          <p:cNvPr id="23" name="Picture 22" descr="image.png"/>
          <p:cNvPicPr>
            <a:picLocks noChangeAspect="1"/>
          </p:cNvPicPr>
          <p:nvPr/>
        </p:nvPicPr>
        <p:blipFill>
          <a:blip r:embed="rId11"/>
          <a:stretch>
            <a:fillRect/>
          </a:stretch>
        </p:blipFill>
        <p:spPr>
          <a:xfrm>
            <a:off x="571500" y="888652"/>
            <a:ext cx="190500" cy="200025"/>
          </a:xfrm>
          <a:prstGeom prst="rect">
            <a:avLst/>
          </a:prstGeom>
        </p:spPr>
      </p:pic>
      <p:pic>
        <p:nvPicPr>
          <p:cNvPr id="24" name="Picture 23" descr="image.png"/>
          <p:cNvPicPr>
            <a:picLocks noChangeAspect="1"/>
          </p:cNvPicPr>
          <p:nvPr/>
        </p:nvPicPr>
        <p:blipFill>
          <a:blip r:embed="rId11"/>
          <a:stretch>
            <a:fillRect/>
          </a:stretch>
        </p:blipFill>
        <p:spPr>
          <a:xfrm>
            <a:off x="571500" y="1764952"/>
            <a:ext cx="190500" cy="200025"/>
          </a:xfrm>
          <a:prstGeom prst="rect">
            <a:avLst/>
          </a:prstGeom>
        </p:spPr>
      </p:pic>
      <p:pic>
        <p:nvPicPr>
          <p:cNvPr id="25" name="Picture 24" descr="image.png"/>
          <p:cNvPicPr>
            <a:picLocks noChangeAspect="1"/>
          </p:cNvPicPr>
          <p:nvPr/>
        </p:nvPicPr>
        <p:blipFill>
          <a:blip r:embed="rId11"/>
          <a:stretch>
            <a:fillRect/>
          </a:stretch>
        </p:blipFill>
        <p:spPr>
          <a:xfrm>
            <a:off x="571500" y="2641252"/>
            <a:ext cx="190500" cy="200025"/>
          </a:xfrm>
          <a:prstGeom prst="rect">
            <a:avLst/>
          </a:prstGeom>
        </p:spPr>
      </p:pic>
      <p:pic>
        <p:nvPicPr>
          <p:cNvPr id="26" name="Picture 25" descr="image.png"/>
          <p:cNvPicPr>
            <a:picLocks noChangeAspect="1"/>
          </p:cNvPicPr>
          <p:nvPr/>
        </p:nvPicPr>
        <p:blipFill>
          <a:blip r:embed="rId11"/>
          <a:stretch>
            <a:fillRect/>
          </a:stretch>
        </p:blipFill>
        <p:spPr>
          <a:xfrm>
            <a:off x="571500" y="3517552"/>
            <a:ext cx="190500" cy="200025"/>
          </a:xfrm>
          <a:prstGeom prst="rect">
            <a:avLst/>
          </a:prstGeom>
        </p:spPr>
      </p:pic>
      <p:pic>
        <p:nvPicPr>
          <p:cNvPr id="27" name="Picture 26" descr="image.png"/>
          <p:cNvPicPr>
            <a:picLocks noChangeAspect="1"/>
          </p:cNvPicPr>
          <p:nvPr/>
        </p:nvPicPr>
        <p:blipFill>
          <a:blip r:embed="rId11"/>
          <a:stretch>
            <a:fillRect/>
          </a:stretch>
        </p:blipFill>
        <p:spPr>
          <a:xfrm>
            <a:off x="571500" y="4393852"/>
            <a:ext cx="190500" cy="200025"/>
          </a:xfrm>
          <a:prstGeom prst="rect">
            <a:avLst/>
          </a:prstGeom>
        </p:spPr>
      </p:pic>
      <p:pic>
        <p:nvPicPr>
          <p:cNvPr id="28" name="Picture 27" descr="image.png"/>
          <p:cNvPicPr>
            <a:picLocks noChangeAspect="1"/>
          </p:cNvPicPr>
          <p:nvPr/>
        </p:nvPicPr>
        <p:blipFill>
          <a:blip r:embed="rId12"/>
          <a:stretch>
            <a:fillRect/>
          </a:stretch>
        </p:blipFill>
        <p:spPr>
          <a:xfrm>
            <a:off x="7202685" y="2865090"/>
            <a:ext cx="342900" cy="304800"/>
          </a:xfrm>
          <a:prstGeom prst="rect">
            <a:avLst/>
          </a:prstGeom>
        </p:spPr>
      </p:pic>
      <p:sp>
        <p:nvSpPr>
          <p:cNvPr id="29" name="TextBox 28"/>
          <p:cNvSpPr txBox="1"/>
          <p:nvPr/>
        </p:nvSpPr>
        <p:spPr>
          <a:xfrm>
            <a:off x="6677025" y="3265140"/>
            <a:ext cx="1394370" cy="190500"/>
          </a:xfrm>
          <a:prstGeom prst="rect">
            <a:avLst/>
          </a:prstGeom>
          <a:noFill/>
        </p:spPr>
        <p:txBody>
          <a:bodyPr wrap="square" lIns="0" tIns="0" rIns="0" bIns="0" anchor="t">
            <a:spAutoFit/>
          </a:bodyPr>
          <a:lstStyle/>
          <a:p>
            <a:pPr algn="ctr"/>
            <a:r>
              <a:rPr sz="1200" b="0" i="0" u="none">
                <a:solidFill>
                  <a:srgbClr val="0F172A"/>
                </a:solidFill>
                <a:latin typeface="Inter Medium"/>
              </a:rPr>
              <a:t>Large Collection</a:t>
            </a:r>
          </a:p>
        </p:txBody>
      </p:sp>
      <p:pic>
        <p:nvPicPr>
          <p:cNvPr id="30" name="Picture 29" descr="image.png"/>
          <p:cNvPicPr>
            <a:picLocks noChangeAspect="1"/>
          </p:cNvPicPr>
          <p:nvPr/>
        </p:nvPicPr>
        <p:blipFill>
          <a:blip r:embed="rId13"/>
          <a:stretch>
            <a:fillRect/>
          </a:stretch>
        </p:blipFill>
        <p:spPr>
          <a:xfrm>
            <a:off x="8848576" y="2865090"/>
            <a:ext cx="304800" cy="304800"/>
          </a:xfrm>
          <a:prstGeom prst="rect">
            <a:avLst/>
          </a:prstGeom>
        </p:spPr>
      </p:pic>
      <p:sp>
        <p:nvSpPr>
          <p:cNvPr id="31" name="TextBox 30"/>
          <p:cNvSpPr txBox="1"/>
          <p:nvPr/>
        </p:nvSpPr>
        <p:spPr>
          <a:xfrm>
            <a:off x="8303865" y="3265140"/>
            <a:ext cx="1394370" cy="190500"/>
          </a:xfrm>
          <a:prstGeom prst="rect">
            <a:avLst/>
          </a:prstGeom>
          <a:noFill/>
        </p:spPr>
        <p:txBody>
          <a:bodyPr wrap="square" lIns="0" tIns="0" rIns="0" bIns="0" anchor="t">
            <a:spAutoFit/>
          </a:bodyPr>
          <a:lstStyle/>
          <a:p>
            <a:pPr algn="ctr"/>
            <a:r>
              <a:rPr sz="1200" b="0" i="0" u="none">
                <a:solidFill>
                  <a:srgbClr val="0F172A"/>
                </a:solidFill>
                <a:latin typeface="Inter Medium"/>
              </a:rPr>
              <a:t>Linear Search</a:t>
            </a:r>
          </a:p>
        </p:txBody>
      </p:sp>
      <p:pic>
        <p:nvPicPr>
          <p:cNvPr id="32" name="Picture 31" descr="image.png"/>
          <p:cNvPicPr>
            <a:picLocks noChangeAspect="1"/>
          </p:cNvPicPr>
          <p:nvPr/>
        </p:nvPicPr>
        <p:blipFill>
          <a:blip r:embed="rId14"/>
          <a:stretch>
            <a:fillRect/>
          </a:stretch>
        </p:blipFill>
        <p:spPr>
          <a:xfrm>
            <a:off x="10475416" y="2865090"/>
            <a:ext cx="304800" cy="304800"/>
          </a:xfrm>
          <a:prstGeom prst="rect">
            <a:avLst/>
          </a:prstGeom>
        </p:spPr>
      </p:pic>
      <p:sp>
        <p:nvSpPr>
          <p:cNvPr id="33" name="TextBox 32"/>
          <p:cNvSpPr txBox="1"/>
          <p:nvPr/>
        </p:nvSpPr>
        <p:spPr>
          <a:xfrm>
            <a:off x="9930705" y="3265140"/>
            <a:ext cx="1394370" cy="190500"/>
          </a:xfrm>
          <a:prstGeom prst="rect">
            <a:avLst/>
          </a:prstGeom>
          <a:noFill/>
        </p:spPr>
        <p:txBody>
          <a:bodyPr wrap="square" lIns="0" tIns="0" rIns="0" bIns="0" anchor="t">
            <a:spAutoFit/>
          </a:bodyPr>
          <a:lstStyle/>
          <a:p>
            <a:pPr algn="ctr"/>
            <a:r>
              <a:rPr sz="1200" b="0" i="0" u="none">
                <a:solidFill>
                  <a:srgbClr val="EF4444"/>
                </a:solidFill>
                <a:latin typeface="Inter Medium"/>
              </a:rPr>
              <a:t>More Time</a:t>
            </a:r>
          </a:p>
        </p:txBody>
      </p:sp>
      <p:pic>
        <p:nvPicPr>
          <p:cNvPr id="34" name="Picture 33" descr="image.png"/>
          <p:cNvPicPr>
            <a:picLocks noChangeAspect="1"/>
          </p:cNvPicPr>
          <p:nvPr/>
        </p:nvPicPr>
        <p:blipFill>
          <a:blip r:embed="rId15"/>
          <a:stretch>
            <a:fillRect/>
          </a:stretch>
        </p:blipFill>
        <p:spPr>
          <a:xfrm>
            <a:off x="7240785" y="4951065"/>
            <a:ext cx="266700" cy="304800"/>
          </a:xfrm>
          <a:prstGeom prst="rect">
            <a:avLst/>
          </a:prstGeom>
        </p:spPr>
      </p:pic>
      <p:sp>
        <p:nvSpPr>
          <p:cNvPr id="35" name="TextBox 34"/>
          <p:cNvSpPr txBox="1"/>
          <p:nvPr/>
        </p:nvSpPr>
        <p:spPr>
          <a:xfrm>
            <a:off x="6677025" y="5351115"/>
            <a:ext cx="1394370" cy="190500"/>
          </a:xfrm>
          <a:prstGeom prst="rect">
            <a:avLst/>
          </a:prstGeom>
          <a:noFill/>
        </p:spPr>
        <p:txBody>
          <a:bodyPr wrap="square" lIns="0" tIns="0" rIns="0" bIns="0" anchor="t">
            <a:spAutoFit/>
          </a:bodyPr>
          <a:lstStyle/>
          <a:p>
            <a:pPr algn="ctr"/>
            <a:r>
              <a:rPr sz="1200" b="0" i="0" u="none">
                <a:solidFill>
                  <a:srgbClr val="0F172A"/>
                </a:solidFill>
                <a:latin typeface="Inter Medium"/>
              </a:rPr>
              <a:t>Large Collection</a:t>
            </a:r>
          </a:p>
        </p:txBody>
      </p:sp>
      <p:pic>
        <p:nvPicPr>
          <p:cNvPr id="36" name="Picture 35" descr="image.png"/>
          <p:cNvPicPr>
            <a:picLocks noChangeAspect="1"/>
          </p:cNvPicPr>
          <p:nvPr/>
        </p:nvPicPr>
        <p:blipFill>
          <a:blip r:embed="rId16"/>
          <a:stretch>
            <a:fillRect/>
          </a:stretch>
        </p:blipFill>
        <p:spPr>
          <a:xfrm>
            <a:off x="8829526" y="4951065"/>
            <a:ext cx="342900" cy="304800"/>
          </a:xfrm>
          <a:prstGeom prst="rect">
            <a:avLst/>
          </a:prstGeom>
        </p:spPr>
      </p:pic>
      <p:sp>
        <p:nvSpPr>
          <p:cNvPr id="37" name="TextBox 36"/>
          <p:cNvSpPr txBox="1"/>
          <p:nvPr/>
        </p:nvSpPr>
        <p:spPr>
          <a:xfrm>
            <a:off x="8303865" y="5351115"/>
            <a:ext cx="1394370" cy="190500"/>
          </a:xfrm>
          <a:prstGeom prst="rect">
            <a:avLst/>
          </a:prstGeom>
          <a:noFill/>
        </p:spPr>
        <p:txBody>
          <a:bodyPr wrap="square" lIns="0" tIns="0" rIns="0" bIns="0" anchor="t">
            <a:spAutoFit/>
          </a:bodyPr>
          <a:lstStyle/>
          <a:p>
            <a:pPr algn="ctr"/>
            <a:r>
              <a:rPr sz="1200" b="0" i="0" u="none">
                <a:solidFill>
                  <a:srgbClr val="0F172A"/>
                </a:solidFill>
                <a:latin typeface="Inter Medium"/>
              </a:rPr>
              <a:t>Efficient DSA</a:t>
            </a:r>
          </a:p>
        </p:txBody>
      </p:sp>
      <p:pic>
        <p:nvPicPr>
          <p:cNvPr id="38" name="Picture 37" descr="image.png"/>
          <p:cNvPicPr>
            <a:picLocks noChangeAspect="1"/>
          </p:cNvPicPr>
          <p:nvPr/>
        </p:nvPicPr>
        <p:blipFill>
          <a:blip r:embed="rId17"/>
          <a:stretch>
            <a:fillRect/>
          </a:stretch>
        </p:blipFill>
        <p:spPr>
          <a:xfrm>
            <a:off x="10494466" y="4951065"/>
            <a:ext cx="266700" cy="304800"/>
          </a:xfrm>
          <a:prstGeom prst="rect">
            <a:avLst/>
          </a:prstGeom>
        </p:spPr>
      </p:pic>
      <p:sp>
        <p:nvSpPr>
          <p:cNvPr id="39" name="TextBox 38"/>
          <p:cNvSpPr txBox="1"/>
          <p:nvPr/>
        </p:nvSpPr>
        <p:spPr>
          <a:xfrm>
            <a:off x="9930705" y="5351115"/>
            <a:ext cx="1394370" cy="190500"/>
          </a:xfrm>
          <a:prstGeom prst="rect">
            <a:avLst/>
          </a:prstGeom>
          <a:noFill/>
        </p:spPr>
        <p:txBody>
          <a:bodyPr wrap="square" lIns="0" tIns="0" rIns="0" bIns="0" anchor="t">
            <a:spAutoFit/>
          </a:bodyPr>
          <a:lstStyle/>
          <a:p>
            <a:pPr algn="ctr"/>
            <a:r>
              <a:rPr sz="1200" b="0" i="0" u="none">
                <a:solidFill>
                  <a:srgbClr val="10B981"/>
                </a:solidFill>
                <a:latin typeface="Inter Medium"/>
              </a:rPr>
              <a:t>Faster Search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762000" y="571500"/>
            <a:ext cx="11401425" cy="548580"/>
          </a:xfrm>
          <a:prstGeom prst="rect">
            <a:avLst/>
          </a:prstGeom>
          <a:noFill/>
        </p:spPr>
        <p:txBody>
          <a:bodyPr wrap="square" lIns="0" tIns="0" rIns="0" bIns="0" anchor="t">
            <a:spAutoFit/>
          </a:bodyPr>
          <a:lstStyle/>
          <a:p>
            <a:pPr algn="l">
              <a:lnSpc>
                <a:spcPts val="4320"/>
              </a:lnSpc>
            </a:pPr>
            <a:r>
              <a:rPr sz="3600" b="0" i="0" u="none">
                <a:solidFill>
                  <a:srgbClr val="FFFFFF"/>
                </a:solidFill>
                <a:latin typeface="Poppins SemiBold"/>
              </a:rPr>
              <a:t>Proposed Functionalities</a:t>
            </a:r>
          </a:p>
        </p:txBody>
      </p:sp>
      <p:sp>
        <p:nvSpPr>
          <p:cNvPr id="4" name="Rectangle 3"/>
          <p:cNvSpPr/>
          <p:nvPr/>
        </p:nvSpPr>
        <p:spPr>
          <a:xfrm>
            <a:off x="571500" y="571500"/>
            <a:ext cx="57150" cy="5485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4"/>
          <a:stretch>
            <a:fillRect/>
          </a:stretch>
        </p:blipFill>
        <p:spPr>
          <a:xfrm>
            <a:off x="5905500" y="3455640"/>
            <a:ext cx="381000" cy="381000"/>
          </a:xfrm>
          <a:prstGeom prst="rect">
            <a:avLst/>
          </a:prstGeom>
        </p:spPr>
      </p:pic>
      <p:sp>
        <p:nvSpPr>
          <p:cNvPr id="6" name="TextBox 5"/>
          <p:cNvSpPr txBox="1"/>
          <p:nvPr/>
        </p:nvSpPr>
        <p:spPr>
          <a:xfrm>
            <a:off x="5238750" y="3931890"/>
            <a:ext cx="1714500" cy="400050"/>
          </a:xfrm>
          <a:prstGeom prst="rect">
            <a:avLst/>
          </a:prstGeom>
          <a:noFill/>
        </p:spPr>
        <p:txBody>
          <a:bodyPr wrap="square" lIns="0" tIns="0" rIns="0" bIns="0" anchor="t">
            <a:spAutoFit/>
          </a:bodyPr>
          <a:lstStyle/>
          <a:p>
            <a:pPr algn="ctr"/>
            <a:r>
              <a:rPr sz="1350" b="1" i="0" u="none" dirty="0">
                <a:solidFill>
                  <a:srgbClr val="FFFFFF"/>
                </a:solidFill>
                <a:latin typeface="Inter"/>
              </a:rPr>
              <a:t>DIGITAL</a:t>
            </a:r>
            <a:r>
              <a:rPr dirty="0"/>
              <a:t>
</a:t>
            </a:r>
            <a:r>
              <a:rPr sz="1350" b="1" i="0" u="none" dirty="0">
                <a:solidFill>
                  <a:srgbClr val="FFFFFF"/>
                </a:solidFill>
                <a:latin typeface="Inter"/>
              </a:rPr>
              <a:t> LIBRARY</a:t>
            </a:r>
          </a:p>
        </p:txBody>
      </p:sp>
      <p:pic>
        <p:nvPicPr>
          <p:cNvPr id="7" name="Picture 6" descr="image.png"/>
          <p:cNvPicPr>
            <a:picLocks noChangeAspect="1"/>
          </p:cNvPicPr>
          <p:nvPr/>
        </p:nvPicPr>
        <p:blipFill>
          <a:blip r:embed="rId5"/>
          <a:stretch>
            <a:fillRect/>
          </a:stretch>
        </p:blipFill>
        <p:spPr>
          <a:xfrm>
            <a:off x="771525" y="3551932"/>
            <a:ext cx="266700" cy="266700"/>
          </a:xfrm>
          <a:prstGeom prst="rect">
            <a:avLst/>
          </a:prstGeom>
        </p:spPr>
      </p:pic>
      <p:pic>
        <p:nvPicPr>
          <p:cNvPr id="8" name="Picture 7" descr="image.png"/>
          <p:cNvPicPr>
            <a:picLocks noChangeAspect="1"/>
          </p:cNvPicPr>
          <p:nvPr/>
        </p:nvPicPr>
        <p:blipFill>
          <a:blip r:embed="rId6"/>
          <a:stretch>
            <a:fillRect/>
          </a:stretch>
        </p:blipFill>
        <p:spPr>
          <a:xfrm>
            <a:off x="8582025" y="3551932"/>
            <a:ext cx="266700" cy="266700"/>
          </a:xfrm>
          <a:prstGeom prst="rect">
            <a:avLst/>
          </a:prstGeom>
        </p:spPr>
      </p:pic>
      <p:pic>
        <p:nvPicPr>
          <p:cNvPr id="9" name="Picture 8" descr="image.png"/>
          <p:cNvPicPr>
            <a:picLocks noChangeAspect="1"/>
          </p:cNvPicPr>
          <p:nvPr/>
        </p:nvPicPr>
        <p:blipFill>
          <a:blip r:embed="rId7"/>
          <a:stretch>
            <a:fillRect/>
          </a:stretch>
        </p:blipFill>
        <p:spPr>
          <a:xfrm>
            <a:off x="771525" y="5353198"/>
            <a:ext cx="266700" cy="266700"/>
          </a:xfrm>
          <a:prstGeom prst="rect">
            <a:avLst/>
          </a:prstGeom>
        </p:spPr>
      </p:pic>
      <p:pic>
        <p:nvPicPr>
          <p:cNvPr id="10" name="Picture 9" descr="image.png"/>
          <p:cNvPicPr>
            <a:picLocks noChangeAspect="1"/>
          </p:cNvPicPr>
          <p:nvPr/>
        </p:nvPicPr>
        <p:blipFill>
          <a:blip r:embed="rId8"/>
          <a:stretch>
            <a:fillRect/>
          </a:stretch>
        </p:blipFill>
        <p:spPr>
          <a:xfrm>
            <a:off x="8582025" y="5353198"/>
            <a:ext cx="304800" cy="266700"/>
          </a:xfrm>
          <a:prstGeom prst="rect">
            <a:avLst/>
          </a:prstGeom>
        </p:spPr>
      </p:pic>
      <p:pic>
        <p:nvPicPr>
          <p:cNvPr id="11" name="Picture 10" descr="image.png"/>
          <p:cNvPicPr>
            <a:picLocks noChangeAspect="1"/>
          </p:cNvPicPr>
          <p:nvPr/>
        </p:nvPicPr>
        <p:blipFill>
          <a:blip r:embed="rId9"/>
          <a:stretch>
            <a:fillRect/>
          </a:stretch>
        </p:blipFill>
        <p:spPr>
          <a:xfrm>
            <a:off x="4676775" y="3551932"/>
            <a:ext cx="304800" cy="266700"/>
          </a:xfrm>
          <a:prstGeom prst="rect">
            <a:avLst/>
          </a:prstGeom>
        </p:spPr>
      </p:pic>
      <p:pic>
        <p:nvPicPr>
          <p:cNvPr id="12" name="Picture 11" descr="image.png"/>
          <p:cNvPicPr>
            <a:picLocks noChangeAspect="1"/>
          </p:cNvPicPr>
          <p:nvPr/>
        </p:nvPicPr>
        <p:blipFill>
          <a:blip r:embed="rId10"/>
          <a:stretch>
            <a:fillRect/>
          </a:stretch>
        </p:blipFill>
        <p:spPr>
          <a:xfrm>
            <a:off x="4676775" y="3445222"/>
            <a:ext cx="238125" cy="266700"/>
          </a:xfrm>
          <a:prstGeom prst="rect">
            <a:avLst/>
          </a:prstGeom>
        </p:spPr>
      </p:pic>
      <p:sp>
        <p:nvSpPr>
          <p:cNvPr id="13" name="TextBox 12"/>
          <p:cNvSpPr txBox="1"/>
          <p:nvPr/>
        </p:nvSpPr>
        <p:spPr>
          <a:xfrm>
            <a:off x="1181100" y="3513832"/>
            <a:ext cx="2550318" cy="285750"/>
          </a:xfrm>
          <a:prstGeom prst="rect">
            <a:avLst/>
          </a:prstGeom>
          <a:noFill/>
        </p:spPr>
        <p:txBody>
          <a:bodyPr wrap="square" lIns="0" tIns="0" rIns="0" bIns="0" anchor="t">
            <a:spAutoFit/>
          </a:bodyPr>
          <a:lstStyle/>
          <a:p>
            <a:pPr algn="l"/>
            <a:r>
              <a:rPr sz="1500" b="0" i="0" u="none">
                <a:solidFill>
                  <a:srgbClr val="FFFFFF"/>
                </a:solidFill>
                <a:latin typeface="Poppins SemiBold"/>
              </a:rPr>
              <a:t>Book Management</a:t>
            </a:r>
          </a:p>
        </p:txBody>
      </p:sp>
      <p:sp>
        <p:nvSpPr>
          <p:cNvPr id="14" name="TextBox 13"/>
          <p:cNvSpPr txBox="1"/>
          <p:nvPr/>
        </p:nvSpPr>
        <p:spPr>
          <a:xfrm>
            <a:off x="1181100" y="3847207"/>
            <a:ext cx="2428875" cy="426541"/>
          </a:xfrm>
          <a:prstGeom prst="rect">
            <a:avLst/>
          </a:prstGeom>
          <a:noFill/>
        </p:spPr>
        <p:txBody>
          <a:bodyPr wrap="square" lIns="0" tIns="0" rIns="0" bIns="0" anchor="t">
            <a:spAutoFit/>
          </a:bodyPr>
          <a:lstStyle/>
          <a:p>
            <a:pPr algn="l">
              <a:lnSpc>
                <a:spcPts val="1679"/>
              </a:lnSpc>
            </a:pPr>
            <a:r>
              <a:rPr sz="1200" b="0" i="0" u="none">
                <a:solidFill>
                  <a:srgbClr val="94A3B8"/>
                </a:solidFill>
                <a:latin typeface="Inter"/>
              </a:rPr>
              <a:t>Add, update, delete, and securely store core book records.</a:t>
            </a:r>
          </a:p>
        </p:txBody>
      </p:sp>
      <p:sp>
        <p:nvSpPr>
          <p:cNvPr id="15" name="TextBox 14"/>
          <p:cNvSpPr txBox="1"/>
          <p:nvPr/>
        </p:nvSpPr>
        <p:spPr>
          <a:xfrm>
            <a:off x="8991600" y="3513832"/>
            <a:ext cx="2550318" cy="285750"/>
          </a:xfrm>
          <a:prstGeom prst="rect">
            <a:avLst/>
          </a:prstGeom>
          <a:noFill/>
        </p:spPr>
        <p:txBody>
          <a:bodyPr wrap="square" lIns="0" tIns="0" rIns="0" bIns="0" anchor="t">
            <a:spAutoFit/>
          </a:bodyPr>
          <a:lstStyle/>
          <a:p>
            <a:pPr algn="l"/>
            <a:r>
              <a:rPr sz="1500" b="0" i="0" u="none">
                <a:solidFill>
                  <a:srgbClr val="FFFFFF"/>
                </a:solidFill>
                <a:latin typeface="Poppins SemiBold"/>
              </a:rPr>
              <a:t>Multi-Criteria Search</a:t>
            </a:r>
          </a:p>
        </p:txBody>
      </p:sp>
      <p:sp>
        <p:nvSpPr>
          <p:cNvPr id="16" name="TextBox 15"/>
          <p:cNvSpPr txBox="1"/>
          <p:nvPr/>
        </p:nvSpPr>
        <p:spPr>
          <a:xfrm>
            <a:off x="8991600" y="3847207"/>
            <a:ext cx="2428875" cy="426541"/>
          </a:xfrm>
          <a:prstGeom prst="rect">
            <a:avLst/>
          </a:prstGeom>
          <a:noFill/>
        </p:spPr>
        <p:txBody>
          <a:bodyPr wrap="square" lIns="0" tIns="0" rIns="0" bIns="0" anchor="t">
            <a:spAutoFit/>
          </a:bodyPr>
          <a:lstStyle/>
          <a:p>
            <a:pPr algn="l">
              <a:lnSpc>
                <a:spcPts val="1679"/>
              </a:lnSpc>
            </a:pPr>
            <a:r>
              <a:rPr sz="1200" b="0" i="0" u="none">
                <a:solidFill>
                  <a:srgbClr val="94A3B8"/>
                </a:solidFill>
                <a:latin typeface="Inter"/>
              </a:rPr>
              <a:t>Search by title, author, ISBN, category, or keyword.</a:t>
            </a:r>
          </a:p>
        </p:txBody>
      </p:sp>
      <p:sp>
        <p:nvSpPr>
          <p:cNvPr id="17" name="TextBox 16"/>
          <p:cNvSpPr txBox="1"/>
          <p:nvPr/>
        </p:nvSpPr>
        <p:spPr>
          <a:xfrm>
            <a:off x="1181100" y="5315098"/>
            <a:ext cx="2550318" cy="285750"/>
          </a:xfrm>
          <a:prstGeom prst="rect">
            <a:avLst/>
          </a:prstGeom>
          <a:noFill/>
        </p:spPr>
        <p:txBody>
          <a:bodyPr wrap="square" lIns="0" tIns="0" rIns="0" bIns="0" anchor="t">
            <a:spAutoFit/>
          </a:bodyPr>
          <a:lstStyle/>
          <a:p>
            <a:pPr algn="l"/>
            <a:r>
              <a:rPr sz="1500" b="0" i="0" u="none">
                <a:solidFill>
                  <a:srgbClr val="FFFFFF"/>
                </a:solidFill>
                <a:latin typeface="Poppins SemiBold"/>
              </a:rPr>
              <a:t>Fast ISBN Lookup</a:t>
            </a:r>
          </a:p>
        </p:txBody>
      </p:sp>
      <p:sp>
        <p:nvSpPr>
          <p:cNvPr id="18" name="TextBox 17"/>
          <p:cNvSpPr txBox="1"/>
          <p:nvPr/>
        </p:nvSpPr>
        <p:spPr>
          <a:xfrm>
            <a:off x="1181100" y="5648473"/>
            <a:ext cx="2428875" cy="426541"/>
          </a:xfrm>
          <a:prstGeom prst="rect">
            <a:avLst/>
          </a:prstGeom>
          <a:noFill/>
        </p:spPr>
        <p:txBody>
          <a:bodyPr wrap="square" lIns="0" tIns="0" rIns="0" bIns="0" anchor="t">
            <a:spAutoFit/>
          </a:bodyPr>
          <a:lstStyle/>
          <a:p>
            <a:pPr algn="l">
              <a:lnSpc>
                <a:spcPts val="1679"/>
              </a:lnSpc>
            </a:pPr>
            <a:r>
              <a:rPr sz="1200" b="0" i="0" u="none">
                <a:solidFill>
                  <a:srgbClr val="94A3B8"/>
                </a:solidFill>
                <a:latin typeface="Inter"/>
              </a:rPr>
              <a:t>Hash table-based lookup for O(1) efficient access.</a:t>
            </a:r>
          </a:p>
        </p:txBody>
      </p:sp>
      <p:sp>
        <p:nvSpPr>
          <p:cNvPr id="19" name="TextBox 18"/>
          <p:cNvSpPr txBox="1"/>
          <p:nvPr/>
        </p:nvSpPr>
        <p:spPr>
          <a:xfrm>
            <a:off x="9029700" y="5315098"/>
            <a:ext cx="2510313" cy="285750"/>
          </a:xfrm>
          <a:prstGeom prst="rect">
            <a:avLst/>
          </a:prstGeom>
          <a:noFill/>
        </p:spPr>
        <p:txBody>
          <a:bodyPr wrap="square" lIns="0" tIns="0" rIns="0" bIns="0" anchor="t">
            <a:spAutoFit/>
          </a:bodyPr>
          <a:lstStyle/>
          <a:p>
            <a:pPr algn="l"/>
            <a:r>
              <a:rPr sz="1500" b="0" i="0" u="none">
                <a:solidFill>
                  <a:srgbClr val="FFFFFF"/>
                </a:solidFill>
                <a:latin typeface="Poppins SemiBold"/>
              </a:rPr>
              <a:t>Sorted Book Search</a:t>
            </a:r>
          </a:p>
        </p:txBody>
      </p:sp>
      <p:sp>
        <p:nvSpPr>
          <p:cNvPr id="20" name="TextBox 19"/>
          <p:cNvSpPr txBox="1"/>
          <p:nvPr/>
        </p:nvSpPr>
        <p:spPr>
          <a:xfrm>
            <a:off x="9029700" y="5648473"/>
            <a:ext cx="2390775" cy="426541"/>
          </a:xfrm>
          <a:prstGeom prst="rect">
            <a:avLst/>
          </a:prstGeom>
          <a:noFill/>
        </p:spPr>
        <p:txBody>
          <a:bodyPr wrap="square" lIns="0" tIns="0" rIns="0" bIns="0" anchor="t">
            <a:spAutoFit/>
          </a:bodyPr>
          <a:lstStyle/>
          <a:p>
            <a:pPr algn="l">
              <a:lnSpc>
                <a:spcPts val="1679"/>
              </a:lnSpc>
            </a:pPr>
            <a:r>
              <a:rPr sz="1200" b="0" i="0" u="none">
                <a:solidFill>
                  <a:srgbClr val="94A3B8"/>
                </a:solidFill>
                <a:latin typeface="Inter"/>
              </a:rPr>
              <a:t>BST/AVL tree for organized, dynamically sorted searching.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71500" y="4846290"/>
            <a:ext cx="11049000" cy="1047750"/>
          </a:xfrm>
          <a:prstGeom prst="rect">
            <a:avLst/>
          </a:prstGeom>
        </p:spPr>
      </p:pic>
      <p:pic>
        <p:nvPicPr>
          <p:cNvPr id="3" name="Picture 2" descr="image.png"/>
          <p:cNvPicPr>
            <a:picLocks noChangeAspect="1"/>
          </p:cNvPicPr>
          <p:nvPr/>
        </p:nvPicPr>
        <p:blipFill>
          <a:blip r:embed="rId3"/>
          <a:stretch>
            <a:fillRect/>
          </a:stretch>
        </p:blipFill>
        <p:spPr>
          <a:xfrm>
            <a:off x="571500" y="1893540"/>
            <a:ext cx="5381625" cy="1143000"/>
          </a:xfrm>
          <a:prstGeom prst="rect">
            <a:avLst/>
          </a:prstGeom>
        </p:spPr>
      </p:pic>
      <p:pic>
        <p:nvPicPr>
          <p:cNvPr id="4" name="Picture 3" descr="image.png"/>
          <p:cNvPicPr>
            <a:picLocks noChangeAspect="1"/>
          </p:cNvPicPr>
          <p:nvPr/>
        </p:nvPicPr>
        <p:blipFill>
          <a:blip r:embed="rId4"/>
          <a:stretch>
            <a:fillRect/>
          </a:stretch>
        </p:blipFill>
        <p:spPr>
          <a:xfrm>
            <a:off x="6238875" y="1893540"/>
            <a:ext cx="5381625" cy="1143000"/>
          </a:xfrm>
          <a:prstGeom prst="rect">
            <a:avLst/>
          </a:prstGeom>
        </p:spPr>
      </p:pic>
      <p:pic>
        <p:nvPicPr>
          <p:cNvPr id="5" name="Picture 4" descr="image.png"/>
          <p:cNvPicPr>
            <a:picLocks noChangeAspect="1"/>
          </p:cNvPicPr>
          <p:nvPr/>
        </p:nvPicPr>
        <p:blipFill>
          <a:blip r:embed="rId5"/>
          <a:stretch>
            <a:fillRect/>
          </a:stretch>
        </p:blipFill>
        <p:spPr>
          <a:xfrm>
            <a:off x="571500" y="3322290"/>
            <a:ext cx="5381625" cy="1143000"/>
          </a:xfrm>
          <a:prstGeom prst="rect">
            <a:avLst/>
          </a:prstGeom>
        </p:spPr>
      </p:pic>
      <p:pic>
        <p:nvPicPr>
          <p:cNvPr id="6" name="Picture 5" descr="image.png"/>
          <p:cNvPicPr>
            <a:picLocks noChangeAspect="1"/>
          </p:cNvPicPr>
          <p:nvPr/>
        </p:nvPicPr>
        <p:blipFill>
          <a:blip r:embed="rId6"/>
          <a:stretch>
            <a:fillRect/>
          </a:stretch>
        </p:blipFill>
        <p:spPr>
          <a:xfrm>
            <a:off x="6238875" y="3322290"/>
            <a:ext cx="5381625" cy="1143000"/>
          </a:xfrm>
          <a:prstGeom prst="rect">
            <a:avLst/>
          </a:prstGeom>
        </p:spPr>
      </p:pic>
      <p:sp>
        <p:nvSpPr>
          <p:cNvPr id="7" name="TextBox 6"/>
          <p:cNvSpPr txBox="1"/>
          <p:nvPr/>
        </p:nvSpPr>
        <p:spPr>
          <a:xfrm>
            <a:off x="762000" y="571500"/>
            <a:ext cx="11401425" cy="548580"/>
          </a:xfrm>
          <a:prstGeom prst="rect">
            <a:avLst/>
          </a:prstGeom>
          <a:noFill/>
        </p:spPr>
        <p:txBody>
          <a:bodyPr wrap="square" lIns="0" tIns="0" rIns="0" bIns="0" anchor="t">
            <a:spAutoFit/>
          </a:bodyPr>
          <a:lstStyle/>
          <a:p>
            <a:pPr algn="l">
              <a:lnSpc>
                <a:spcPts val="4320"/>
              </a:lnSpc>
            </a:pPr>
            <a:r>
              <a:rPr sz="3600" b="0" i="0" u="none">
                <a:solidFill>
                  <a:srgbClr val="0B132B"/>
                </a:solidFill>
                <a:latin typeface="Poppins SemiBold"/>
              </a:rPr>
              <a:t>Tools and Technologies</a:t>
            </a:r>
          </a:p>
        </p:txBody>
      </p:sp>
      <p:sp>
        <p:nvSpPr>
          <p:cNvPr id="8" name="Rectangle 7"/>
          <p:cNvSpPr/>
          <p:nvPr/>
        </p:nvSpPr>
        <p:spPr>
          <a:xfrm>
            <a:off x="571500" y="571500"/>
            <a:ext cx="57150" cy="548580"/>
          </a:xfrm>
          <a:prstGeom prst="rect">
            <a:avLst/>
          </a:prstGeom>
          <a:solidFill>
            <a:srgbClr val="3A8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2500" y="5084415"/>
            <a:ext cx="2274986" cy="571500"/>
          </a:xfrm>
          <a:prstGeom prst="rect">
            <a:avLst/>
          </a:prstGeom>
          <a:noFill/>
        </p:spPr>
        <p:txBody>
          <a:bodyPr wrap="square" lIns="0" tIns="0" rIns="0" bIns="0" anchor="t">
            <a:spAutoFit/>
          </a:bodyPr>
          <a:lstStyle/>
          <a:p>
            <a:pPr algn="l"/>
            <a:r>
              <a:rPr sz="1500" b="0" i="0" u="none">
                <a:solidFill>
                  <a:srgbClr val="00E5FF"/>
                </a:solidFill>
                <a:latin typeface="Poppins SemiBold"/>
              </a:rPr>
              <a:t>Expected DSA Mapping:</a:t>
            </a:r>
          </a:p>
        </p:txBody>
      </p:sp>
      <p:pic>
        <p:nvPicPr>
          <p:cNvPr id="10" name="Picture 9" descr="image.png"/>
          <p:cNvPicPr>
            <a:picLocks noChangeAspect="1"/>
          </p:cNvPicPr>
          <p:nvPr/>
        </p:nvPicPr>
        <p:blipFill>
          <a:blip r:embed="rId7"/>
          <a:stretch>
            <a:fillRect/>
          </a:stretch>
        </p:blipFill>
        <p:spPr>
          <a:xfrm>
            <a:off x="819150" y="2179290"/>
            <a:ext cx="571500" cy="571500"/>
          </a:xfrm>
          <a:prstGeom prst="rect">
            <a:avLst/>
          </a:prstGeom>
        </p:spPr>
      </p:pic>
      <p:pic>
        <p:nvPicPr>
          <p:cNvPr id="11" name="Picture 10" descr="image.png"/>
          <p:cNvPicPr>
            <a:picLocks noChangeAspect="1"/>
          </p:cNvPicPr>
          <p:nvPr/>
        </p:nvPicPr>
        <p:blipFill>
          <a:blip r:embed="rId8"/>
          <a:stretch>
            <a:fillRect/>
          </a:stretch>
        </p:blipFill>
        <p:spPr>
          <a:xfrm>
            <a:off x="6486525" y="2179290"/>
            <a:ext cx="571500" cy="571500"/>
          </a:xfrm>
          <a:prstGeom prst="rect">
            <a:avLst/>
          </a:prstGeom>
        </p:spPr>
      </p:pic>
      <p:pic>
        <p:nvPicPr>
          <p:cNvPr id="12" name="Picture 11" descr="image.png"/>
          <p:cNvPicPr>
            <a:picLocks noChangeAspect="1"/>
          </p:cNvPicPr>
          <p:nvPr/>
        </p:nvPicPr>
        <p:blipFill>
          <a:blip r:embed="rId9"/>
          <a:stretch>
            <a:fillRect/>
          </a:stretch>
        </p:blipFill>
        <p:spPr>
          <a:xfrm>
            <a:off x="819150" y="3608040"/>
            <a:ext cx="571500" cy="571500"/>
          </a:xfrm>
          <a:prstGeom prst="rect">
            <a:avLst/>
          </a:prstGeom>
        </p:spPr>
      </p:pic>
      <p:pic>
        <p:nvPicPr>
          <p:cNvPr id="13" name="Picture 12" descr="image.png"/>
          <p:cNvPicPr>
            <a:picLocks noChangeAspect="1"/>
          </p:cNvPicPr>
          <p:nvPr/>
        </p:nvPicPr>
        <p:blipFill>
          <a:blip r:embed="rId8"/>
          <a:stretch>
            <a:fillRect/>
          </a:stretch>
        </p:blipFill>
        <p:spPr>
          <a:xfrm>
            <a:off x="6486525" y="3608040"/>
            <a:ext cx="571500" cy="571500"/>
          </a:xfrm>
          <a:prstGeom prst="rect">
            <a:avLst/>
          </a:prstGeom>
        </p:spPr>
      </p:pic>
      <p:pic>
        <p:nvPicPr>
          <p:cNvPr id="14" name="Picture 13" descr="image.png"/>
          <p:cNvPicPr>
            <a:picLocks noChangeAspect="1"/>
          </p:cNvPicPr>
          <p:nvPr/>
        </p:nvPicPr>
        <p:blipFill>
          <a:blip r:embed="rId10"/>
          <a:stretch>
            <a:fillRect/>
          </a:stretch>
        </p:blipFill>
        <p:spPr>
          <a:xfrm>
            <a:off x="3941861" y="5303490"/>
            <a:ext cx="133350" cy="133350"/>
          </a:xfrm>
          <a:prstGeom prst="rect">
            <a:avLst/>
          </a:prstGeom>
        </p:spPr>
      </p:pic>
      <p:sp>
        <p:nvSpPr>
          <p:cNvPr id="15" name="TextBox 14"/>
          <p:cNvSpPr txBox="1"/>
          <p:nvPr/>
        </p:nvSpPr>
        <p:spPr>
          <a:xfrm>
            <a:off x="4189511" y="5170140"/>
            <a:ext cx="901898" cy="400050"/>
          </a:xfrm>
          <a:prstGeom prst="rect">
            <a:avLst/>
          </a:prstGeom>
          <a:noFill/>
        </p:spPr>
        <p:txBody>
          <a:bodyPr wrap="square" lIns="0" tIns="0" rIns="0" bIns="0" anchor="t">
            <a:spAutoFit/>
          </a:bodyPr>
          <a:lstStyle/>
          <a:p>
            <a:pPr algn="l"/>
            <a:r>
              <a:rPr sz="1350" b="0" i="0" u="none">
                <a:solidFill>
                  <a:srgbClr val="3A86FF"/>
                </a:solidFill>
                <a:latin typeface="Inter SemiBold"/>
              </a:rPr>
              <a:t>Hash Table</a:t>
            </a:r>
          </a:p>
        </p:txBody>
      </p:sp>
      <p:pic>
        <p:nvPicPr>
          <p:cNvPr id="16" name="Picture 15" descr="image.png"/>
          <p:cNvPicPr>
            <a:picLocks noChangeAspect="1"/>
          </p:cNvPicPr>
          <p:nvPr/>
        </p:nvPicPr>
        <p:blipFill>
          <a:blip r:embed="rId11"/>
          <a:stretch>
            <a:fillRect/>
          </a:stretch>
        </p:blipFill>
        <p:spPr>
          <a:xfrm>
            <a:off x="6460480" y="5303490"/>
            <a:ext cx="133350" cy="133350"/>
          </a:xfrm>
          <a:prstGeom prst="rect">
            <a:avLst/>
          </a:prstGeom>
        </p:spPr>
      </p:pic>
      <p:sp>
        <p:nvSpPr>
          <p:cNvPr id="17" name="TextBox 16"/>
          <p:cNvSpPr txBox="1"/>
          <p:nvPr/>
        </p:nvSpPr>
        <p:spPr>
          <a:xfrm>
            <a:off x="6708130" y="5270152"/>
            <a:ext cx="742950" cy="200025"/>
          </a:xfrm>
          <a:prstGeom prst="rect">
            <a:avLst/>
          </a:prstGeom>
          <a:noFill/>
        </p:spPr>
        <p:txBody>
          <a:bodyPr wrap="square" lIns="0" tIns="0" rIns="0" bIns="0" anchor="t">
            <a:spAutoFit/>
          </a:bodyPr>
          <a:lstStyle/>
          <a:p>
            <a:pPr algn="l"/>
            <a:r>
              <a:rPr sz="1350" b="0" i="0" u="none">
                <a:solidFill>
                  <a:srgbClr val="3A86FF"/>
                </a:solidFill>
                <a:latin typeface="Inter SemiBold"/>
              </a:rPr>
              <a:t>AVL/BST</a:t>
            </a:r>
          </a:p>
        </p:txBody>
      </p:sp>
      <p:pic>
        <p:nvPicPr>
          <p:cNvPr id="18" name="Picture 17" descr="image.png"/>
          <p:cNvPicPr>
            <a:picLocks noChangeAspect="1"/>
          </p:cNvPicPr>
          <p:nvPr/>
        </p:nvPicPr>
        <p:blipFill>
          <a:blip r:embed="rId10"/>
          <a:stretch>
            <a:fillRect/>
          </a:stretch>
        </p:blipFill>
        <p:spPr>
          <a:xfrm>
            <a:off x="8656290" y="5303490"/>
            <a:ext cx="133350" cy="133350"/>
          </a:xfrm>
          <a:prstGeom prst="rect">
            <a:avLst/>
          </a:prstGeom>
        </p:spPr>
      </p:pic>
      <p:sp>
        <p:nvSpPr>
          <p:cNvPr id="19" name="TextBox 18"/>
          <p:cNvSpPr txBox="1"/>
          <p:nvPr/>
        </p:nvSpPr>
        <p:spPr>
          <a:xfrm>
            <a:off x="8903940" y="5270152"/>
            <a:ext cx="323850" cy="200025"/>
          </a:xfrm>
          <a:prstGeom prst="rect">
            <a:avLst/>
          </a:prstGeom>
          <a:noFill/>
        </p:spPr>
        <p:txBody>
          <a:bodyPr wrap="square" lIns="0" tIns="0" rIns="0" bIns="0" anchor="t">
            <a:spAutoFit/>
          </a:bodyPr>
          <a:lstStyle/>
          <a:p>
            <a:pPr algn="l"/>
            <a:r>
              <a:rPr sz="1350" b="0" i="0" u="none">
                <a:solidFill>
                  <a:srgbClr val="3A86FF"/>
                </a:solidFill>
                <a:latin typeface="Inter SemiBold"/>
              </a:rPr>
              <a:t>Trie</a:t>
            </a:r>
          </a:p>
        </p:txBody>
      </p:sp>
      <p:pic>
        <p:nvPicPr>
          <p:cNvPr id="20" name="Picture 19" descr="image.png"/>
          <p:cNvPicPr>
            <a:picLocks noChangeAspect="1"/>
          </p:cNvPicPr>
          <p:nvPr/>
        </p:nvPicPr>
        <p:blipFill>
          <a:blip r:embed="rId12"/>
          <a:stretch>
            <a:fillRect/>
          </a:stretch>
        </p:blipFill>
        <p:spPr>
          <a:xfrm>
            <a:off x="10496550" y="5303490"/>
            <a:ext cx="133350" cy="133350"/>
          </a:xfrm>
          <a:prstGeom prst="rect">
            <a:avLst/>
          </a:prstGeom>
        </p:spPr>
      </p:pic>
      <p:sp>
        <p:nvSpPr>
          <p:cNvPr id="21" name="TextBox 20"/>
          <p:cNvSpPr txBox="1"/>
          <p:nvPr/>
        </p:nvSpPr>
        <p:spPr>
          <a:xfrm>
            <a:off x="10744200" y="5270152"/>
            <a:ext cx="495300" cy="200025"/>
          </a:xfrm>
          <a:prstGeom prst="rect">
            <a:avLst/>
          </a:prstGeom>
          <a:noFill/>
        </p:spPr>
        <p:txBody>
          <a:bodyPr wrap="square" lIns="0" tIns="0" rIns="0" bIns="0" anchor="t">
            <a:spAutoFit/>
          </a:bodyPr>
          <a:lstStyle/>
          <a:p>
            <a:pPr algn="l"/>
            <a:r>
              <a:rPr sz="1350" b="0" i="0" u="none">
                <a:solidFill>
                  <a:srgbClr val="3A86FF"/>
                </a:solidFill>
                <a:latin typeface="Inter SemiBold"/>
              </a:rPr>
              <a:t>Graph</a:t>
            </a:r>
          </a:p>
        </p:txBody>
      </p:sp>
      <p:pic>
        <p:nvPicPr>
          <p:cNvPr id="22" name="Picture 21" descr="image.png"/>
          <p:cNvPicPr>
            <a:picLocks noChangeAspect="1"/>
          </p:cNvPicPr>
          <p:nvPr/>
        </p:nvPicPr>
        <p:blipFill>
          <a:blip r:embed="rId13"/>
          <a:stretch>
            <a:fillRect/>
          </a:stretch>
        </p:blipFill>
        <p:spPr>
          <a:xfrm>
            <a:off x="1004887" y="2331690"/>
            <a:ext cx="200025" cy="266700"/>
          </a:xfrm>
          <a:prstGeom prst="rect">
            <a:avLst/>
          </a:prstGeom>
        </p:spPr>
      </p:pic>
      <p:sp>
        <p:nvSpPr>
          <p:cNvPr id="23" name="TextBox 22"/>
          <p:cNvSpPr txBox="1"/>
          <p:nvPr/>
        </p:nvSpPr>
        <p:spPr>
          <a:xfrm>
            <a:off x="1581150" y="2141190"/>
            <a:ext cx="2700337" cy="314325"/>
          </a:xfrm>
          <a:prstGeom prst="rect">
            <a:avLst/>
          </a:prstGeom>
          <a:noFill/>
        </p:spPr>
        <p:txBody>
          <a:bodyPr wrap="square" lIns="0" tIns="0" rIns="0" bIns="0" anchor="t">
            <a:spAutoFit/>
          </a:bodyPr>
          <a:lstStyle/>
          <a:p>
            <a:pPr algn="l"/>
            <a:r>
              <a:rPr sz="1650" b="1" i="0" u="none">
                <a:solidFill>
                  <a:srgbClr val="0F172A"/>
                </a:solidFill>
                <a:latin typeface="Poppins"/>
              </a:rPr>
              <a:t>Programming Language</a:t>
            </a:r>
          </a:p>
        </p:txBody>
      </p:sp>
      <p:sp>
        <p:nvSpPr>
          <p:cNvPr id="24" name="TextBox 23"/>
          <p:cNvSpPr txBox="1"/>
          <p:nvPr/>
        </p:nvSpPr>
        <p:spPr>
          <a:xfrm>
            <a:off x="1581150" y="2531715"/>
            <a:ext cx="2571750" cy="257175"/>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Java (Object-Oriented Design)</a:t>
            </a:r>
          </a:p>
        </p:txBody>
      </p:sp>
      <p:pic>
        <p:nvPicPr>
          <p:cNvPr id="25" name="Picture 24" descr="image.png"/>
          <p:cNvPicPr>
            <a:picLocks noChangeAspect="1"/>
          </p:cNvPicPr>
          <p:nvPr/>
        </p:nvPicPr>
        <p:blipFill>
          <a:blip r:embed="rId14"/>
          <a:stretch>
            <a:fillRect/>
          </a:stretch>
        </p:blipFill>
        <p:spPr>
          <a:xfrm>
            <a:off x="6605587" y="2331690"/>
            <a:ext cx="333375" cy="266700"/>
          </a:xfrm>
          <a:prstGeom prst="rect">
            <a:avLst/>
          </a:prstGeom>
        </p:spPr>
      </p:pic>
      <p:sp>
        <p:nvSpPr>
          <p:cNvPr id="26" name="TextBox 25"/>
          <p:cNvSpPr txBox="1"/>
          <p:nvPr/>
        </p:nvSpPr>
        <p:spPr>
          <a:xfrm>
            <a:off x="7248525" y="2141190"/>
            <a:ext cx="3050381" cy="314325"/>
          </a:xfrm>
          <a:prstGeom prst="rect">
            <a:avLst/>
          </a:prstGeom>
          <a:noFill/>
        </p:spPr>
        <p:txBody>
          <a:bodyPr wrap="square" lIns="0" tIns="0" rIns="0" bIns="0" anchor="t">
            <a:spAutoFit/>
          </a:bodyPr>
          <a:lstStyle/>
          <a:p>
            <a:pPr algn="l"/>
            <a:r>
              <a:rPr sz="1650" b="1" i="0" u="none">
                <a:solidFill>
                  <a:srgbClr val="0F172A"/>
                </a:solidFill>
                <a:latin typeface="Poppins"/>
              </a:rPr>
              <a:t>Development Tools</a:t>
            </a:r>
          </a:p>
        </p:txBody>
      </p:sp>
      <p:sp>
        <p:nvSpPr>
          <p:cNvPr id="27" name="TextBox 26"/>
          <p:cNvSpPr txBox="1"/>
          <p:nvPr/>
        </p:nvSpPr>
        <p:spPr>
          <a:xfrm>
            <a:off x="7248525" y="2531715"/>
            <a:ext cx="2905125" cy="257175"/>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IntelliJ IDEA / VS Code, Git &amp; GitHub</a:t>
            </a:r>
          </a:p>
        </p:txBody>
      </p:sp>
      <p:pic>
        <p:nvPicPr>
          <p:cNvPr id="28" name="Picture 27" descr="image.png"/>
          <p:cNvPicPr>
            <a:picLocks noChangeAspect="1"/>
          </p:cNvPicPr>
          <p:nvPr/>
        </p:nvPicPr>
        <p:blipFill>
          <a:blip r:embed="rId15"/>
          <a:stretch>
            <a:fillRect/>
          </a:stretch>
        </p:blipFill>
        <p:spPr>
          <a:xfrm>
            <a:off x="952500" y="3760440"/>
            <a:ext cx="304800" cy="266700"/>
          </a:xfrm>
          <a:prstGeom prst="rect">
            <a:avLst/>
          </a:prstGeom>
        </p:spPr>
      </p:pic>
      <p:sp>
        <p:nvSpPr>
          <p:cNvPr id="29" name="TextBox 28"/>
          <p:cNvSpPr txBox="1"/>
          <p:nvPr/>
        </p:nvSpPr>
        <p:spPr>
          <a:xfrm>
            <a:off x="1581150" y="3569940"/>
            <a:ext cx="3050381" cy="314325"/>
          </a:xfrm>
          <a:prstGeom prst="rect">
            <a:avLst/>
          </a:prstGeom>
          <a:noFill/>
        </p:spPr>
        <p:txBody>
          <a:bodyPr wrap="square" lIns="0" tIns="0" rIns="0" bIns="0" anchor="t">
            <a:spAutoFit/>
          </a:bodyPr>
          <a:lstStyle/>
          <a:p>
            <a:pPr algn="l"/>
            <a:r>
              <a:rPr sz="1650" b="1" i="0" u="none">
                <a:solidFill>
                  <a:srgbClr val="0F172A"/>
                </a:solidFill>
                <a:latin typeface="Poppins"/>
              </a:rPr>
              <a:t>Core DSA Concepts</a:t>
            </a:r>
          </a:p>
        </p:txBody>
      </p:sp>
      <p:sp>
        <p:nvSpPr>
          <p:cNvPr id="30" name="TextBox 29"/>
          <p:cNvSpPr txBox="1"/>
          <p:nvPr/>
        </p:nvSpPr>
        <p:spPr>
          <a:xfrm>
            <a:off x="1581150" y="3960465"/>
            <a:ext cx="2905125" cy="257175"/>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Hash Tables, BST/AVL, Trie, Graphs</a:t>
            </a:r>
          </a:p>
        </p:txBody>
      </p:sp>
      <p:pic>
        <p:nvPicPr>
          <p:cNvPr id="31" name="Picture 30" descr="image.png"/>
          <p:cNvPicPr>
            <a:picLocks noChangeAspect="1"/>
          </p:cNvPicPr>
          <p:nvPr/>
        </p:nvPicPr>
        <p:blipFill>
          <a:blip r:embed="rId16"/>
          <a:stretch>
            <a:fillRect/>
          </a:stretch>
        </p:blipFill>
        <p:spPr>
          <a:xfrm>
            <a:off x="6638925" y="3760440"/>
            <a:ext cx="266700" cy="266700"/>
          </a:xfrm>
          <a:prstGeom prst="rect">
            <a:avLst/>
          </a:prstGeom>
        </p:spPr>
      </p:pic>
      <p:sp>
        <p:nvSpPr>
          <p:cNvPr id="32" name="TextBox 31"/>
          <p:cNvSpPr txBox="1"/>
          <p:nvPr/>
        </p:nvSpPr>
        <p:spPr>
          <a:xfrm>
            <a:off x="7248525" y="3569940"/>
            <a:ext cx="2930366" cy="314325"/>
          </a:xfrm>
          <a:prstGeom prst="rect">
            <a:avLst/>
          </a:prstGeom>
          <a:noFill/>
        </p:spPr>
        <p:txBody>
          <a:bodyPr wrap="square" lIns="0" tIns="0" rIns="0" bIns="0" anchor="t">
            <a:spAutoFit/>
          </a:bodyPr>
          <a:lstStyle/>
          <a:p>
            <a:pPr algn="l"/>
            <a:r>
              <a:rPr sz="1650" b="1" i="0" u="none">
                <a:solidFill>
                  <a:srgbClr val="0F172A"/>
                </a:solidFill>
                <a:latin typeface="Poppins"/>
              </a:rPr>
              <a:t>Storage &amp; Interface</a:t>
            </a:r>
          </a:p>
        </p:txBody>
      </p:sp>
      <p:sp>
        <p:nvSpPr>
          <p:cNvPr id="33" name="TextBox 32"/>
          <p:cNvSpPr txBox="1"/>
          <p:nvPr/>
        </p:nvSpPr>
        <p:spPr>
          <a:xfrm>
            <a:off x="7248525" y="3960465"/>
            <a:ext cx="2790825" cy="257175"/>
          </a:xfrm>
          <a:prstGeom prst="rect">
            <a:avLst/>
          </a:prstGeom>
          <a:noFill/>
        </p:spPr>
        <p:txBody>
          <a:bodyPr wrap="square" lIns="0" tIns="0" rIns="0" bIns="0" anchor="t">
            <a:spAutoFit/>
          </a:bodyPr>
          <a:lstStyle/>
          <a:p>
            <a:pPr algn="l">
              <a:lnSpc>
                <a:spcPts val="2025"/>
              </a:lnSpc>
            </a:pPr>
            <a:r>
              <a:rPr sz="1350" b="0" i="0" u="none">
                <a:solidFill>
                  <a:srgbClr val="475569"/>
                </a:solidFill>
                <a:latin typeface="Inter"/>
              </a:rPr>
              <a:t>File Handling / Database, Java GUI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991225" y="898177"/>
            <a:ext cx="5629275" cy="5991225"/>
          </a:xfrm>
          <a:prstGeom prst="rect">
            <a:avLst/>
          </a:prstGeom>
        </p:spPr>
      </p:pic>
      <p:pic>
        <p:nvPicPr>
          <p:cNvPr id="4" name="Picture 3" descr="image.png"/>
          <p:cNvPicPr>
            <a:picLocks noChangeAspect="1"/>
          </p:cNvPicPr>
          <p:nvPr/>
        </p:nvPicPr>
        <p:blipFill>
          <a:blip r:embed="rId4"/>
          <a:stretch>
            <a:fillRect/>
          </a:stretch>
        </p:blipFill>
        <p:spPr>
          <a:xfrm>
            <a:off x="6900862" y="1288702"/>
            <a:ext cx="3810000" cy="638175"/>
          </a:xfrm>
          <a:prstGeom prst="rect">
            <a:avLst/>
          </a:prstGeom>
        </p:spPr>
      </p:pic>
      <p:pic>
        <p:nvPicPr>
          <p:cNvPr id="5" name="Picture 4" descr="image.png"/>
          <p:cNvPicPr>
            <a:picLocks noChangeAspect="1"/>
          </p:cNvPicPr>
          <p:nvPr/>
        </p:nvPicPr>
        <p:blipFill>
          <a:blip r:embed="rId5"/>
          <a:stretch>
            <a:fillRect/>
          </a:stretch>
        </p:blipFill>
        <p:spPr>
          <a:xfrm>
            <a:off x="6900862" y="2441227"/>
            <a:ext cx="3810000" cy="638175"/>
          </a:xfrm>
          <a:prstGeom prst="rect">
            <a:avLst/>
          </a:prstGeom>
        </p:spPr>
      </p:pic>
      <p:pic>
        <p:nvPicPr>
          <p:cNvPr id="6" name="Picture 5" descr="image.png"/>
          <p:cNvPicPr>
            <a:picLocks noChangeAspect="1"/>
          </p:cNvPicPr>
          <p:nvPr/>
        </p:nvPicPr>
        <p:blipFill>
          <a:blip r:embed="rId6"/>
          <a:stretch>
            <a:fillRect/>
          </a:stretch>
        </p:blipFill>
        <p:spPr>
          <a:xfrm>
            <a:off x="6900862" y="3593752"/>
            <a:ext cx="3810000" cy="600075"/>
          </a:xfrm>
          <a:prstGeom prst="rect">
            <a:avLst/>
          </a:prstGeom>
        </p:spPr>
      </p:pic>
      <p:pic>
        <p:nvPicPr>
          <p:cNvPr id="7" name="Picture 6" descr="image.png"/>
          <p:cNvPicPr>
            <a:picLocks noChangeAspect="1"/>
          </p:cNvPicPr>
          <p:nvPr/>
        </p:nvPicPr>
        <p:blipFill>
          <a:blip r:embed="rId7"/>
          <a:stretch>
            <a:fillRect/>
          </a:stretch>
        </p:blipFill>
        <p:spPr>
          <a:xfrm>
            <a:off x="6900862" y="4708177"/>
            <a:ext cx="3810000" cy="638175"/>
          </a:xfrm>
          <a:prstGeom prst="rect">
            <a:avLst/>
          </a:prstGeom>
        </p:spPr>
      </p:pic>
      <p:pic>
        <p:nvPicPr>
          <p:cNvPr id="8" name="Picture 7" descr="image.png"/>
          <p:cNvPicPr>
            <a:picLocks noChangeAspect="1"/>
          </p:cNvPicPr>
          <p:nvPr/>
        </p:nvPicPr>
        <p:blipFill>
          <a:blip r:embed="rId8"/>
          <a:stretch>
            <a:fillRect/>
          </a:stretch>
        </p:blipFill>
        <p:spPr>
          <a:xfrm>
            <a:off x="6900862" y="5860702"/>
            <a:ext cx="3810000" cy="638175"/>
          </a:xfrm>
          <a:prstGeom prst="rect">
            <a:avLst/>
          </a:prstGeom>
        </p:spPr>
      </p:pic>
      <p:sp>
        <p:nvSpPr>
          <p:cNvPr id="9" name="TextBox 8"/>
          <p:cNvSpPr txBox="1"/>
          <p:nvPr/>
        </p:nvSpPr>
        <p:spPr>
          <a:xfrm>
            <a:off x="762000" y="119405"/>
            <a:ext cx="11401425" cy="548580"/>
          </a:xfrm>
          <a:prstGeom prst="rect">
            <a:avLst/>
          </a:prstGeom>
          <a:noFill/>
        </p:spPr>
        <p:txBody>
          <a:bodyPr wrap="square" lIns="0" tIns="0" rIns="0" bIns="0" anchor="t">
            <a:spAutoFit/>
          </a:bodyPr>
          <a:lstStyle/>
          <a:p>
            <a:pPr algn="l">
              <a:lnSpc>
                <a:spcPts val="4320"/>
              </a:lnSpc>
            </a:pPr>
            <a:r>
              <a:rPr sz="3600" b="0" i="0" u="none" dirty="0">
                <a:solidFill>
                  <a:srgbClr val="FFFFFF"/>
                </a:solidFill>
                <a:latin typeface="Poppins SemiBold"/>
              </a:rPr>
              <a:t>Expected Outcome</a:t>
            </a:r>
          </a:p>
        </p:txBody>
      </p:sp>
      <p:sp>
        <p:nvSpPr>
          <p:cNvPr id="10" name="Rectangle 9"/>
          <p:cNvSpPr/>
          <p:nvPr/>
        </p:nvSpPr>
        <p:spPr>
          <a:xfrm>
            <a:off x="571500" y="119405"/>
            <a:ext cx="57150" cy="5485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1500" y="6055965"/>
            <a:ext cx="4848225" cy="590550"/>
          </a:xfrm>
          <a:prstGeom prst="rect">
            <a:avLst/>
          </a:prstGeom>
          <a:noFill/>
        </p:spPr>
        <p:txBody>
          <a:bodyPr wrap="square" lIns="0" tIns="0" rIns="0" bIns="0" anchor="t">
            <a:spAutoFit/>
          </a:bodyPr>
          <a:lstStyle/>
          <a:p>
            <a:pPr algn="ctr"/>
            <a:r>
              <a:rPr sz="1950" b="0" i="1" u="none">
                <a:solidFill>
                  <a:srgbClr val="00E5FF"/>
                </a:solidFill>
                <a:latin typeface="Inter SemiBold"/>
              </a:rPr>
              <a:t> "Applying Data Structures to Build Faster and Smarter Digital Libraries." </a:t>
            </a:r>
          </a:p>
        </p:txBody>
      </p:sp>
      <p:pic>
        <p:nvPicPr>
          <p:cNvPr id="12" name="Picture 11" descr="image.png"/>
          <p:cNvPicPr>
            <a:picLocks noChangeAspect="1"/>
          </p:cNvPicPr>
          <p:nvPr/>
        </p:nvPicPr>
        <p:blipFill>
          <a:blip r:embed="rId9"/>
          <a:stretch>
            <a:fillRect/>
          </a:stretch>
        </p:blipFill>
        <p:spPr>
          <a:xfrm>
            <a:off x="8720137" y="2069752"/>
            <a:ext cx="171450" cy="228600"/>
          </a:xfrm>
          <a:prstGeom prst="rect">
            <a:avLst/>
          </a:prstGeom>
        </p:spPr>
      </p:pic>
      <p:pic>
        <p:nvPicPr>
          <p:cNvPr id="13" name="Picture 12" descr="image.png"/>
          <p:cNvPicPr>
            <a:picLocks noChangeAspect="1"/>
          </p:cNvPicPr>
          <p:nvPr/>
        </p:nvPicPr>
        <p:blipFill>
          <a:blip r:embed="rId9"/>
          <a:stretch>
            <a:fillRect/>
          </a:stretch>
        </p:blipFill>
        <p:spPr>
          <a:xfrm>
            <a:off x="8720137" y="3222277"/>
            <a:ext cx="171450" cy="228600"/>
          </a:xfrm>
          <a:prstGeom prst="rect">
            <a:avLst/>
          </a:prstGeom>
        </p:spPr>
      </p:pic>
      <p:pic>
        <p:nvPicPr>
          <p:cNvPr id="14" name="Picture 13" descr="image.png"/>
          <p:cNvPicPr>
            <a:picLocks noChangeAspect="1"/>
          </p:cNvPicPr>
          <p:nvPr/>
        </p:nvPicPr>
        <p:blipFill>
          <a:blip r:embed="rId9"/>
          <a:stretch>
            <a:fillRect/>
          </a:stretch>
        </p:blipFill>
        <p:spPr>
          <a:xfrm>
            <a:off x="8720137" y="4336702"/>
            <a:ext cx="171450" cy="228600"/>
          </a:xfrm>
          <a:prstGeom prst="rect">
            <a:avLst/>
          </a:prstGeom>
        </p:spPr>
      </p:pic>
      <p:pic>
        <p:nvPicPr>
          <p:cNvPr id="15" name="Picture 14" descr="image.png"/>
          <p:cNvPicPr>
            <a:picLocks noChangeAspect="1"/>
          </p:cNvPicPr>
          <p:nvPr/>
        </p:nvPicPr>
        <p:blipFill>
          <a:blip r:embed="rId9"/>
          <a:stretch>
            <a:fillRect/>
          </a:stretch>
        </p:blipFill>
        <p:spPr>
          <a:xfrm>
            <a:off x="8720137" y="5489227"/>
            <a:ext cx="171450" cy="228600"/>
          </a:xfrm>
          <a:prstGeom prst="rect">
            <a:avLst/>
          </a:prstGeom>
        </p:spPr>
      </p:pic>
      <p:sp>
        <p:nvSpPr>
          <p:cNvPr id="16" name="TextBox 15"/>
          <p:cNvSpPr txBox="1"/>
          <p:nvPr/>
        </p:nvSpPr>
        <p:spPr>
          <a:xfrm>
            <a:off x="952500" y="1141065"/>
            <a:ext cx="4467225" cy="685800"/>
          </a:xfrm>
          <a:prstGeom prst="rect">
            <a:avLst/>
          </a:prstGeom>
          <a:noFill/>
        </p:spPr>
        <p:txBody>
          <a:bodyPr wrap="square" lIns="0" tIns="0" rIns="0" bIns="0" anchor="t">
            <a:spAutoFit/>
          </a:bodyPr>
          <a:lstStyle/>
          <a:p>
            <a:pPr algn="l">
              <a:lnSpc>
                <a:spcPts val="2700"/>
              </a:lnSpc>
            </a:pPr>
            <a:r>
              <a:rPr sz="1800" b="0" i="0" u="none">
                <a:solidFill>
                  <a:srgbClr val="E2E8F0"/>
                </a:solidFill>
                <a:latin typeface="Inter"/>
              </a:rPr>
              <a:t>Faster retrieval of books and academic resources.</a:t>
            </a:r>
          </a:p>
        </p:txBody>
      </p:sp>
      <p:sp>
        <p:nvSpPr>
          <p:cNvPr id="17" name="TextBox 16"/>
          <p:cNvSpPr txBox="1"/>
          <p:nvPr/>
        </p:nvSpPr>
        <p:spPr>
          <a:xfrm>
            <a:off x="952500" y="2017365"/>
            <a:ext cx="4467225" cy="685800"/>
          </a:xfrm>
          <a:prstGeom prst="rect">
            <a:avLst/>
          </a:prstGeom>
          <a:noFill/>
        </p:spPr>
        <p:txBody>
          <a:bodyPr wrap="square" lIns="0" tIns="0" rIns="0" bIns="0" anchor="t">
            <a:spAutoFit/>
          </a:bodyPr>
          <a:lstStyle/>
          <a:p>
            <a:pPr algn="l">
              <a:lnSpc>
                <a:spcPts val="2700"/>
              </a:lnSpc>
            </a:pPr>
            <a:r>
              <a:rPr sz="1800" b="0" i="0" u="none">
                <a:solidFill>
                  <a:srgbClr val="E2E8F0"/>
                </a:solidFill>
                <a:latin typeface="Inter"/>
              </a:rPr>
              <a:t>Efficient searching even with massive data collections.</a:t>
            </a:r>
          </a:p>
        </p:txBody>
      </p:sp>
      <p:sp>
        <p:nvSpPr>
          <p:cNvPr id="18" name="TextBox 17"/>
          <p:cNvSpPr txBox="1"/>
          <p:nvPr/>
        </p:nvSpPr>
        <p:spPr>
          <a:xfrm>
            <a:off x="952500" y="2893665"/>
            <a:ext cx="4467225" cy="685800"/>
          </a:xfrm>
          <a:prstGeom prst="rect">
            <a:avLst/>
          </a:prstGeom>
          <a:noFill/>
        </p:spPr>
        <p:txBody>
          <a:bodyPr wrap="square" lIns="0" tIns="0" rIns="0" bIns="0" anchor="t">
            <a:spAutoFit/>
          </a:bodyPr>
          <a:lstStyle/>
          <a:p>
            <a:pPr algn="l">
              <a:lnSpc>
                <a:spcPts val="2700"/>
              </a:lnSpc>
            </a:pPr>
            <a:r>
              <a:rPr sz="1800" b="0" i="0" u="none">
                <a:solidFill>
                  <a:srgbClr val="E2E8F0"/>
                </a:solidFill>
                <a:latin typeface="Inter"/>
              </a:rPr>
              <a:t>Reduced dependency on slow, linear search algorithms.</a:t>
            </a:r>
          </a:p>
        </p:txBody>
      </p:sp>
      <p:sp>
        <p:nvSpPr>
          <p:cNvPr id="19" name="TextBox 18"/>
          <p:cNvSpPr txBox="1"/>
          <p:nvPr/>
        </p:nvSpPr>
        <p:spPr>
          <a:xfrm>
            <a:off x="952500" y="3769965"/>
            <a:ext cx="4467225" cy="685800"/>
          </a:xfrm>
          <a:prstGeom prst="rect">
            <a:avLst/>
          </a:prstGeom>
          <a:noFill/>
        </p:spPr>
        <p:txBody>
          <a:bodyPr wrap="square" lIns="0" tIns="0" rIns="0" bIns="0" anchor="t">
            <a:spAutoFit/>
          </a:bodyPr>
          <a:lstStyle/>
          <a:p>
            <a:pPr algn="l">
              <a:lnSpc>
                <a:spcPts val="2700"/>
              </a:lnSpc>
            </a:pPr>
            <a:r>
              <a:rPr sz="1800" b="0" i="0" u="none">
                <a:solidFill>
                  <a:srgbClr val="E2E8F0"/>
                </a:solidFill>
                <a:latin typeface="Inter"/>
              </a:rPr>
              <a:t>Autocomplete and intelligent related-resource discovery.</a:t>
            </a:r>
          </a:p>
        </p:txBody>
      </p:sp>
      <p:sp>
        <p:nvSpPr>
          <p:cNvPr id="20" name="TextBox 19"/>
          <p:cNvSpPr txBox="1"/>
          <p:nvPr/>
        </p:nvSpPr>
        <p:spPr>
          <a:xfrm>
            <a:off x="952500" y="4646265"/>
            <a:ext cx="4467225" cy="1028700"/>
          </a:xfrm>
          <a:prstGeom prst="rect">
            <a:avLst/>
          </a:prstGeom>
          <a:noFill/>
        </p:spPr>
        <p:txBody>
          <a:bodyPr wrap="square" lIns="0" tIns="0" rIns="0" bIns="0" anchor="t">
            <a:spAutoFit/>
          </a:bodyPr>
          <a:lstStyle/>
          <a:p>
            <a:pPr algn="l">
              <a:lnSpc>
                <a:spcPts val="2700"/>
              </a:lnSpc>
            </a:pPr>
            <a:r>
              <a:rPr sz="1800" b="0" i="0" u="none">
                <a:solidFill>
                  <a:srgbClr val="E2E8F0"/>
                </a:solidFill>
                <a:latin typeface="Inter"/>
              </a:rPr>
              <a:t>Practical demonstration of multiple complex data structures working cohesively.</a:t>
            </a:r>
          </a:p>
        </p:txBody>
      </p:sp>
      <p:sp>
        <p:nvSpPr>
          <p:cNvPr id="21" name="TextBox 20"/>
          <p:cNvSpPr txBox="1"/>
          <p:nvPr/>
        </p:nvSpPr>
        <p:spPr>
          <a:xfrm>
            <a:off x="7125652" y="1450627"/>
            <a:ext cx="3360420" cy="314325"/>
          </a:xfrm>
          <a:prstGeom prst="rect">
            <a:avLst/>
          </a:prstGeom>
          <a:noFill/>
        </p:spPr>
        <p:txBody>
          <a:bodyPr wrap="square" lIns="0" tIns="0" rIns="0" bIns="0" anchor="t">
            <a:spAutoFit/>
          </a:bodyPr>
          <a:lstStyle/>
          <a:p>
            <a:pPr algn="ctr"/>
            <a:r>
              <a:rPr sz="1650" b="1" i="0" u="none">
                <a:solidFill>
                  <a:srgbClr val="F8FAFC"/>
                </a:solidFill>
                <a:latin typeface="Poppins"/>
              </a:rPr>
              <a:t>User Query</a:t>
            </a:r>
          </a:p>
        </p:txBody>
      </p:sp>
      <p:sp>
        <p:nvSpPr>
          <p:cNvPr id="22" name="TextBox 21"/>
          <p:cNvSpPr txBox="1"/>
          <p:nvPr/>
        </p:nvSpPr>
        <p:spPr>
          <a:xfrm>
            <a:off x="7125652" y="2603152"/>
            <a:ext cx="3360420" cy="314325"/>
          </a:xfrm>
          <a:prstGeom prst="rect">
            <a:avLst/>
          </a:prstGeom>
          <a:noFill/>
        </p:spPr>
        <p:txBody>
          <a:bodyPr wrap="square" lIns="0" tIns="0" rIns="0" bIns="0" anchor="t">
            <a:spAutoFit/>
          </a:bodyPr>
          <a:lstStyle/>
          <a:p>
            <a:pPr algn="ctr"/>
            <a:r>
              <a:rPr sz="1650" b="1" i="0" u="none">
                <a:solidFill>
                  <a:srgbClr val="F8FAFC"/>
                </a:solidFill>
                <a:latin typeface="Poppins"/>
              </a:rPr>
              <a:t>Search Engine</a:t>
            </a:r>
          </a:p>
        </p:txBody>
      </p:sp>
      <p:sp>
        <p:nvSpPr>
          <p:cNvPr id="23" name="TextBox 22"/>
          <p:cNvSpPr txBox="1"/>
          <p:nvPr/>
        </p:nvSpPr>
        <p:spPr>
          <a:xfrm>
            <a:off x="7105650" y="3736627"/>
            <a:ext cx="3400425" cy="314325"/>
          </a:xfrm>
          <a:prstGeom prst="rect">
            <a:avLst/>
          </a:prstGeom>
          <a:noFill/>
        </p:spPr>
        <p:txBody>
          <a:bodyPr wrap="square" lIns="0" tIns="0" rIns="0" bIns="0" anchor="t">
            <a:spAutoFit/>
          </a:bodyPr>
          <a:lstStyle/>
          <a:p>
            <a:pPr algn="ctr"/>
            <a:r>
              <a:rPr sz="1650" b="1" i="0" u="none">
                <a:solidFill>
                  <a:srgbClr val="0B132B"/>
                </a:solidFill>
                <a:latin typeface="Poppins"/>
              </a:rPr>
              <a:t>Hash Table / BST / Trie / Graph</a:t>
            </a:r>
          </a:p>
        </p:txBody>
      </p:sp>
      <p:sp>
        <p:nvSpPr>
          <p:cNvPr id="24" name="TextBox 23"/>
          <p:cNvSpPr txBox="1"/>
          <p:nvPr/>
        </p:nvSpPr>
        <p:spPr>
          <a:xfrm>
            <a:off x="7125652" y="4870102"/>
            <a:ext cx="3360420" cy="314325"/>
          </a:xfrm>
          <a:prstGeom prst="rect">
            <a:avLst/>
          </a:prstGeom>
          <a:noFill/>
        </p:spPr>
        <p:txBody>
          <a:bodyPr wrap="square" lIns="0" tIns="0" rIns="0" bIns="0" anchor="t">
            <a:spAutoFit/>
          </a:bodyPr>
          <a:lstStyle/>
          <a:p>
            <a:pPr algn="ctr"/>
            <a:r>
              <a:rPr sz="1650" b="1" i="0" u="none">
                <a:solidFill>
                  <a:srgbClr val="F8FAFC"/>
                </a:solidFill>
                <a:latin typeface="Poppins"/>
              </a:rPr>
              <a:t>Relevant Resources</a:t>
            </a:r>
          </a:p>
        </p:txBody>
      </p:sp>
      <p:sp>
        <p:nvSpPr>
          <p:cNvPr id="25" name="TextBox 24"/>
          <p:cNvSpPr txBox="1"/>
          <p:nvPr/>
        </p:nvSpPr>
        <p:spPr>
          <a:xfrm>
            <a:off x="7125652" y="6022627"/>
            <a:ext cx="3360420" cy="314325"/>
          </a:xfrm>
          <a:prstGeom prst="rect">
            <a:avLst/>
          </a:prstGeom>
          <a:noFill/>
        </p:spPr>
        <p:txBody>
          <a:bodyPr wrap="square" lIns="180975" tIns="0" rIns="0" bIns="0" anchor="t">
            <a:spAutoFit/>
          </a:bodyPr>
          <a:lstStyle/>
          <a:p>
            <a:pPr algn="ctr"/>
            <a:r>
              <a:rPr sz="1650" b="1" i="0" u="none">
                <a:solidFill>
                  <a:srgbClr val="10B981"/>
                </a:solidFill>
                <a:latin typeface="Poppins"/>
              </a:rPr>
              <a:t>Fast Search Results</a:t>
            </a:r>
          </a:p>
        </p:txBody>
      </p:sp>
      <p:pic>
        <p:nvPicPr>
          <p:cNvPr id="26" name="Picture 25" descr="image.png"/>
          <p:cNvPicPr>
            <a:picLocks noChangeAspect="1"/>
          </p:cNvPicPr>
          <p:nvPr/>
        </p:nvPicPr>
        <p:blipFill>
          <a:blip r:embed="rId10"/>
          <a:stretch>
            <a:fillRect/>
          </a:stretch>
        </p:blipFill>
        <p:spPr>
          <a:xfrm>
            <a:off x="7648575" y="6070252"/>
            <a:ext cx="180975" cy="209550"/>
          </a:xfrm>
          <a:prstGeom prst="rect">
            <a:avLst/>
          </a:prstGeom>
        </p:spPr>
      </p:pic>
      <p:pic>
        <p:nvPicPr>
          <p:cNvPr id="27" name="Picture 26" descr="image.png"/>
          <p:cNvPicPr>
            <a:picLocks noChangeAspect="1"/>
          </p:cNvPicPr>
          <p:nvPr/>
        </p:nvPicPr>
        <p:blipFill>
          <a:blip r:embed="rId11"/>
          <a:stretch>
            <a:fillRect/>
          </a:stretch>
        </p:blipFill>
        <p:spPr>
          <a:xfrm>
            <a:off x="571500" y="1193452"/>
            <a:ext cx="190500" cy="200025"/>
          </a:xfrm>
          <a:prstGeom prst="rect">
            <a:avLst/>
          </a:prstGeom>
        </p:spPr>
      </p:pic>
      <p:pic>
        <p:nvPicPr>
          <p:cNvPr id="28" name="Picture 27" descr="image.png"/>
          <p:cNvPicPr>
            <a:picLocks noChangeAspect="1"/>
          </p:cNvPicPr>
          <p:nvPr/>
        </p:nvPicPr>
        <p:blipFill>
          <a:blip r:embed="rId11"/>
          <a:stretch>
            <a:fillRect/>
          </a:stretch>
        </p:blipFill>
        <p:spPr>
          <a:xfrm>
            <a:off x="571500" y="2069752"/>
            <a:ext cx="190500" cy="200025"/>
          </a:xfrm>
          <a:prstGeom prst="rect">
            <a:avLst/>
          </a:prstGeom>
        </p:spPr>
      </p:pic>
      <p:pic>
        <p:nvPicPr>
          <p:cNvPr id="29" name="Picture 28" descr="image.png"/>
          <p:cNvPicPr>
            <a:picLocks noChangeAspect="1"/>
          </p:cNvPicPr>
          <p:nvPr/>
        </p:nvPicPr>
        <p:blipFill>
          <a:blip r:embed="rId11"/>
          <a:stretch>
            <a:fillRect/>
          </a:stretch>
        </p:blipFill>
        <p:spPr>
          <a:xfrm>
            <a:off x="571500" y="2946052"/>
            <a:ext cx="190500" cy="200025"/>
          </a:xfrm>
          <a:prstGeom prst="rect">
            <a:avLst/>
          </a:prstGeom>
        </p:spPr>
      </p:pic>
      <p:pic>
        <p:nvPicPr>
          <p:cNvPr id="30" name="Picture 29" descr="image.png"/>
          <p:cNvPicPr>
            <a:picLocks noChangeAspect="1"/>
          </p:cNvPicPr>
          <p:nvPr/>
        </p:nvPicPr>
        <p:blipFill>
          <a:blip r:embed="rId11"/>
          <a:stretch>
            <a:fillRect/>
          </a:stretch>
        </p:blipFill>
        <p:spPr>
          <a:xfrm>
            <a:off x="571500" y="3822352"/>
            <a:ext cx="190500" cy="200025"/>
          </a:xfrm>
          <a:prstGeom prst="rect">
            <a:avLst/>
          </a:prstGeom>
        </p:spPr>
      </p:pic>
      <p:pic>
        <p:nvPicPr>
          <p:cNvPr id="31" name="Picture 30" descr="image.png"/>
          <p:cNvPicPr>
            <a:picLocks noChangeAspect="1"/>
          </p:cNvPicPr>
          <p:nvPr/>
        </p:nvPicPr>
        <p:blipFill>
          <a:blip r:embed="rId11"/>
          <a:stretch>
            <a:fillRect/>
          </a:stretch>
        </p:blipFill>
        <p:spPr>
          <a:xfrm>
            <a:off x="571500" y="4698652"/>
            <a:ext cx="190500" cy="2000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441</Words>
  <Application>Microsoft Office PowerPoint</Application>
  <PresentationFormat>Widescreen</PresentationFormat>
  <Paragraphs>61</Paragraphs>
  <Slides>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Aptos</vt:lpstr>
      <vt:lpstr>Arial</vt:lpstr>
      <vt:lpstr>Calibri</vt:lpstr>
      <vt:lpstr>Inter</vt:lpstr>
      <vt:lpstr>Inter Medium</vt:lpstr>
      <vt:lpstr>Inter SemiBold</vt:lpstr>
      <vt:lpstr>Poppins</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 NITHISH</dc:creator>
  <cp:keywords/>
  <dc:description>generated using python-pptx</dc:description>
  <cp:lastModifiedBy>S NITHISH</cp:lastModifiedBy>
  <cp:revision>2</cp:revision>
  <dcterms:created xsi:type="dcterms:W3CDTF">2013-01-27T09:14:16Z</dcterms:created>
  <dcterms:modified xsi:type="dcterms:W3CDTF">2026-08-13T06:48:32Z</dcterms:modified>
  <cp:category/>
</cp:coreProperties>
</file>