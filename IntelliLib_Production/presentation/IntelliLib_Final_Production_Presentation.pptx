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574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D1D1F"/>
                </a:solidFill>
                <a:latin typeface="Aptos"/>
              </a:rPr>
              <a:t>IntelliLib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696970"/>
                </a:solidFill>
                <a:latin typeface="Aptos"/>
              </a:rPr>
              <a:t>Live Physical Library Search &amp; Circulation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696970"/>
                </a:solidFill>
                <a:latin typeface="Aptos"/>
              </a:rPr>
              <a:t>Student ID scan • Smart search • Borrow approval • Exact-copy issue &amp; return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4709160"/>
            <a:ext cx="1828800" cy="502920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360" y="4828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USER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4709160"/>
            <a:ext cx="1828800" cy="502920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4828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ADMIN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4709160"/>
            <a:ext cx="1828800" cy="502920"/>
          </a:xfrm>
          <a:prstGeom prst="roundRect">
            <a:avLst/>
          </a:prstGeom>
          <a:solidFill>
            <a:srgbClr val="238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4828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LIVE 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1D1D1F"/>
                </a:solidFill>
                <a:latin typeface="Aptos"/>
              </a:rPr>
              <a:t>Project motive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96970"/>
                </a:solidFill>
                <a:latin typeface="Aptos"/>
              </a:rPr>
              <a:t>A simple real-world problem, solved end-to-end.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2104" y="1810512"/>
            <a:ext cx="109728" cy="3785615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847088"/>
            <a:ext cx="29077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304288"/>
            <a:ext cx="2907792" cy="33101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Large libraries contain thousands of books and copies. Students need fast discovery, while librarians need reliable request, issue and return tracking.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35424" y="1810512"/>
            <a:ext cx="109728" cy="3785615"/>
          </a:xfrm>
          <a:prstGeom prst="roundRect">
            <a:avLst/>
          </a:prstGeom>
          <a:solidFill>
            <a:srgbClr val="238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847088"/>
            <a:ext cx="29077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The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304288"/>
            <a:ext cx="2907792" cy="33101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One live desktop system. Students scan their real ID, search and request. Admin approves, then scans the student and exact physical book to issue or return.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64592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38744" y="1810512"/>
            <a:ext cx="109728" cy="3785615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1" y="1847088"/>
            <a:ext cx="29077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The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1" y="2304288"/>
            <a:ext cx="2907792" cy="33101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Faster search, fewer manual mistakes, exact copy accountability, real-time status updates, and one central source of truth.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1D1D1F"/>
                </a:solidFill>
                <a:latin typeface="Aptos"/>
              </a:rPr>
              <a:t>Student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96970"/>
                </a:solidFill>
                <a:latin typeface="Aptos"/>
              </a:rPr>
              <a:t>No password typing in normal use — scan the registered college ID.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34290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2104" y="1673351"/>
            <a:ext cx="109728" cy="1408176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709928"/>
            <a:ext cx="29535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1. Scan 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167128"/>
            <a:ext cx="2953512" cy="932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In-app camera reads the real card 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508760"/>
            <a:ext cx="34290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26864" y="1673351"/>
            <a:ext cx="109728" cy="1408176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1709928"/>
            <a:ext cx="29535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2.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2167128"/>
            <a:ext cx="2953512" cy="932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Title, author, ISBN, category or keyword.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508760"/>
            <a:ext cx="34290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21624" y="1673351"/>
            <a:ext cx="109728" cy="1408176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31352" y="1709928"/>
            <a:ext cx="29535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3. Request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1352" y="2167128"/>
            <a:ext cx="2953512" cy="932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Student requests an available title.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57600"/>
            <a:ext cx="34290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2104" y="3822191"/>
            <a:ext cx="109728" cy="1408176"/>
          </a:xfrm>
          <a:prstGeom prst="roundRect">
            <a:avLst/>
          </a:prstGeom>
          <a:solidFill>
            <a:srgbClr val="238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3858768"/>
            <a:ext cx="29535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4. Approval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4315968"/>
            <a:ext cx="2953512" cy="932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Live notification when librarian approves.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657600"/>
            <a:ext cx="34290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26864" y="3822191"/>
            <a:ext cx="109728" cy="1408176"/>
          </a:xfrm>
          <a:prstGeom prst="roundRect">
            <a:avLst/>
          </a:prstGeom>
          <a:solidFill>
            <a:srgbClr val="238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6592" y="3858768"/>
            <a:ext cx="29535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5. Collect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6592" y="4315968"/>
            <a:ext cx="2953512" cy="932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Admin scans ID + exact physical copy.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3657600"/>
            <a:ext cx="342900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21624" y="3822191"/>
            <a:ext cx="109728" cy="1408176"/>
          </a:xfrm>
          <a:prstGeom prst="roundRect">
            <a:avLst/>
          </a:prstGeom>
          <a:solidFill>
            <a:srgbClr val="238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31352" y="3858768"/>
            <a:ext cx="29535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6. Track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31352" y="4315968"/>
            <a:ext cx="2953512" cy="932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My Books shows copy barcode and due date.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1D1D1F"/>
                </a:solidFill>
                <a:latin typeface="Aptos"/>
              </a:rPr>
              <a:t>Administrator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96970"/>
                </a:solidFill>
                <a:latin typeface="Aptos"/>
              </a:rPr>
              <a:t>Only one admin role — issue/return is part of Admin, not a third mode.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257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2104" y="1581912"/>
            <a:ext cx="109728" cy="950976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618488"/>
            <a:ext cx="47823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Live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075688"/>
            <a:ext cx="4782312" cy="4754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Counts are calculated from the real database only.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5257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55664" y="1581912"/>
            <a:ext cx="109728" cy="950976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1618488"/>
            <a:ext cx="47823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Borrow requests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2075688"/>
            <a:ext cx="4782312" cy="4754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Approve/reject pending requests.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017520"/>
            <a:ext cx="5257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3182112"/>
            <a:ext cx="109728" cy="950976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218688"/>
            <a:ext cx="47823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Library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3675887"/>
            <a:ext cx="4782312" cy="4754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Import real books and exact copy barcodes.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017520"/>
            <a:ext cx="5257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55664" y="3182112"/>
            <a:ext cx="109728" cy="950976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3218688"/>
            <a:ext cx="47823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Students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3675887"/>
            <a:ext cx="4782312" cy="4754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Import students or enroll a card with the camera.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617720"/>
            <a:ext cx="5257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2104" y="4782312"/>
            <a:ext cx="109728" cy="950976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818888"/>
            <a:ext cx="47823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Issue / Return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5276088"/>
            <a:ext cx="4782312" cy="4754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Scan student ID then scan the physical book.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617720"/>
            <a:ext cx="5257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55664" y="4782312"/>
            <a:ext cx="109728" cy="950976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4818888"/>
            <a:ext cx="47823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Loans &amp; activity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5276088"/>
            <a:ext cx="4782312" cy="4754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Track due/overdue states and audit actions.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1D1D1F"/>
                </a:solidFill>
                <a:latin typeface="Aptos"/>
              </a:rPr>
              <a:t>Real scanning inside IntelliLib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96970"/>
                </a:solidFill>
                <a:latin typeface="Aptos"/>
              </a:rPr>
              <a:t>No external camera program and no typed demo token in the normal flow.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0632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7824" y="1719072"/>
            <a:ext cx="109728" cy="3236976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755648"/>
            <a:ext cx="25877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Student 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212848"/>
            <a:ext cx="2587752" cy="2761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Camera popup opens inside IntelliLib. QR / Code 128 / Code 39 / EAN / UPC / Data Matrix / PDF417 and other common formats are decoded.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77639" y="2971800"/>
            <a:ext cx="822960" cy="457200"/>
          </a:xfrm>
          <a:prstGeom prst="rightArrow">
            <a:avLst/>
          </a:prstGeom>
          <a:solidFill>
            <a:srgbClr val="D2D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892040" y="1554480"/>
            <a:ext cx="30632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38344" y="1719072"/>
            <a:ext cx="109728" cy="3236976"/>
          </a:xfrm>
          <a:prstGeom prst="roundRect">
            <a:avLst/>
          </a:prstGeom>
          <a:solidFill>
            <a:srgbClr val="238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8072" y="1755648"/>
            <a:ext cx="25877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Server 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8072" y="2212848"/>
            <a:ext cx="2587752" cy="2761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Decoded card text is matched through a keyed HMAC hash. Unknown or disabled cards are rejected.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138160" y="2971800"/>
            <a:ext cx="822960" cy="457200"/>
          </a:xfrm>
          <a:prstGeom prst="rightArrow">
            <a:avLst/>
          </a:prstGeom>
          <a:solidFill>
            <a:srgbClr val="D2D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52560" y="1554480"/>
            <a:ext cx="242316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98864" y="1719072"/>
            <a:ext cx="109728" cy="3236976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08592" y="1755648"/>
            <a:ext cx="19476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Physical 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08592" y="2212848"/>
            <a:ext cx="1947672" cy="2761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The exact copy barcode is scanned. IntelliLib verifies status and ownership before changing inventory.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7784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BE372D"/>
                </a:solidFill>
                <a:latin typeface="Aptos"/>
              </a:rPr>
              <a:t>Printed barcodes can be copied; issue still happens under librarian supervision and should include normal physical ID verification.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1D1D1F"/>
                </a:solidFill>
                <a:latin typeface="Aptos"/>
              </a:rPr>
              <a:t>Borrowing state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96970"/>
                </a:solidFill>
                <a:latin typeface="Aptos"/>
              </a:rPr>
              <a:t>Server-side validation prevents impossible transitions.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743200"/>
            <a:ext cx="1828800" cy="731520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62656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AVAILABLE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23160" y="2907792"/>
            <a:ext cx="640080" cy="365759"/>
          </a:xfrm>
          <a:prstGeom prst="rightArrow">
            <a:avLst/>
          </a:prstGeom>
          <a:solidFill>
            <a:srgbClr val="D2D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0360" y="2743200"/>
            <a:ext cx="1828800" cy="731520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2962656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REQUESTED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754879" y="2907792"/>
            <a:ext cx="640080" cy="365759"/>
          </a:xfrm>
          <a:prstGeom prst="rightArrow">
            <a:avLst/>
          </a:prstGeom>
          <a:solidFill>
            <a:srgbClr val="D2D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12079" y="2743200"/>
            <a:ext cx="1828800" cy="731520"/>
          </a:xfrm>
          <a:prstGeom prst="roundRect">
            <a:avLst/>
          </a:prstGeom>
          <a:solidFill>
            <a:srgbClr val="238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79" y="2962656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APPROVED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86599" y="2907792"/>
            <a:ext cx="640080" cy="365759"/>
          </a:xfrm>
          <a:prstGeom prst="rightArrow">
            <a:avLst/>
          </a:prstGeom>
          <a:solidFill>
            <a:srgbClr val="D2D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43800" y="2743200"/>
            <a:ext cx="1828800" cy="731520"/>
          </a:xfrm>
          <a:prstGeom prst="roundRect">
            <a:avLst/>
          </a:prstGeom>
          <a:solidFill>
            <a:srgbClr val="785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2962656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ISSUED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418320" y="2907792"/>
            <a:ext cx="640079" cy="365759"/>
          </a:xfrm>
          <a:prstGeom prst="rightArrow">
            <a:avLst/>
          </a:prstGeom>
          <a:solidFill>
            <a:srgbClr val="D2D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75520" y="2743200"/>
            <a:ext cx="1828800" cy="731520"/>
          </a:xfrm>
          <a:prstGeom prst="roundRect">
            <a:avLst/>
          </a:prstGeom>
          <a:solidFill>
            <a:srgbClr val="238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0" y="2962656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RETURNED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0240" y="4114800"/>
            <a:ext cx="3749039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066544" y="4279392"/>
            <a:ext cx="109728" cy="813816"/>
          </a:xfrm>
          <a:prstGeom prst="roundRect">
            <a:avLst/>
          </a:prstGeom>
          <a:solidFill>
            <a:srgbClr val="BE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76272" y="4315968"/>
            <a:ext cx="3273551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Rejected / expired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76272" y="4773168"/>
            <a:ext cx="3273551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A request can stop before issue without changing a physical copy.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4114800"/>
            <a:ext cx="3749039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638544" y="4279392"/>
            <a:ext cx="109728" cy="813816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48272" y="4315968"/>
            <a:ext cx="3273551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Overdue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8272" y="4773168"/>
            <a:ext cx="3273551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An issued loan automatically becomes overdue after its due date.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1D1D1F"/>
                </a:solidFill>
                <a:latin typeface="Aptos"/>
              </a:rPr>
              <a:t>Live cloud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96970"/>
                </a:solidFill>
                <a:latin typeface="Aptos"/>
              </a:rPr>
              <a:t>Your laptop is not the production server.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48840"/>
            <a:ext cx="24688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6384" y="2313432"/>
            <a:ext cx="109728" cy="1682496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350008"/>
            <a:ext cx="19933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IntelliLib.exe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807208"/>
            <a:ext cx="1993392" cy="12070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Student and Admin PCs
Windows desktop app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46120" y="2743200"/>
            <a:ext cx="1005840" cy="502919"/>
          </a:xfrm>
          <a:prstGeom prst="rightArrow">
            <a:avLst/>
          </a:prstGeom>
          <a:solidFill>
            <a:srgbClr val="D2D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39" y="283921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696970"/>
                </a:solidFill>
                <a:latin typeface="Aptos"/>
              </a:rPr>
              <a:t>HTTPS/WSS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83080"/>
            <a:ext cx="29718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9704" y="1947672"/>
            <a:ext cx="109728" cy="2414016"/>
          </a:xfrm>
          <a:prstGeom prst="roundRect">
            <a:avLst/>
          </a:prstGeom>
          <a:solidFill>
            <a:srgbClr val="238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984248"/>
            <a:ext cx="249631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Render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441448"/>
            <a:ext cx="2496312" cy="19385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Spring Boot API
WebSocket updates
Search engine
Transactions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498079" y="2743200"/>
            <a:ext cx="1005840" cy="502919"/>
          </a:xfrm>
          <a:prstGeom prst="rightArrow">
            <a:avLst/>
          </a:prstGeom>
          <a:solidFill>
            <a:srgbClr val="D2D2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283921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696970"/>
                </a:solidFill>
                <a:latin typeface="Aptos"/>
              </a:rPr>
              <a:t>SQL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2148840"/>
            <a:ext cx="24688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741664" y="2313432"/>
            <a:ext cx="109728" cy="1682496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51392" y="2350008"/>
            <a:ext cx="19933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Neon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1392" y="2807208"/>
            <a:ext cx="1993392" cy="12070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Central PostgreSQL
Persistent real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349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238649"/>
                </a:solidFill>
                <a:latin typeface="Aptos"/>
              </a:rPr>
              <a:t>If the desktop PC shuts down, the cloud backend and database remain available.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1D1D1F"/>
                </a:solidFill>
                <a:latin typeface="Aptos"/>
              </a:rPr>
              <a:t>Search and discovery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96970"/>
                </a:solidFill>
                <a:latin typeface="Aptos"/>
              </a:rPr>
              <a:t>The UI stays simple; data structures work underneath.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6384" y="1581912"/>
            <a:ext cx="109728" cy="1316736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18488"/>
            <a:ext cx="29992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Hash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075688"/>
            <a:ext cx="2999232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Fast exact ISBN/token lookup.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26864" y="1581912"/>
            <a:ext cx="109728" cy="1316736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1618488"/>
            <a:ext cx="29992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Trie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2075688"/>
            <a:ext cx="2999232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Live title and author autocomplete.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41732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67344" y="1581912"/>
            <a:ext cx="109728" cy="1316736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1618488"/>
            <a:ext cx="29992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AVL tree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2075688"/>
            <a:ext cx="2999232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Balanced alphabetical title index.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7472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6384" y="3639312"/>
            <a:ext cx="109728" cy="1316736"/>
          </a:xfrm>
          <a:prstGeom prst="roundRect">
            <a:avLst/>
          </a:prstGeom>
          <a:solidFill>
            <a:srgbClr val="238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675887"/>
            <a:ext cx="29992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Graph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133087"/>
            <a:ext cx="2999232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Related books by author/category/keywords.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47472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26864" y="3639312"/>
            <a:ext cx="109728" cy="1316736"/>
          </a:xfrm>
          <a:prstGeom prst="roundRect">
            <a:avLst/>
          </a:prstGeom>
          <a:solidFill>
            <a:srgbClr val="238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6592" y="3675887"/>
            <a:ext cx="29992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KMP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6592" y="4133087"/>
            <a:ext cx="2999232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Efficient query occurrence verification.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347472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67344" y="3639312"/>
            <a:ext cx="109728" cy="1316736"/>
          </a:xfrm>
          <a:prstGeom prst="roundRect">
            <a:avLst/>
          </a:prstGeom>
          <a:solidFill>
            <a:srgbClr val="238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77072" y="3675887"/>
            <a:ext cx="299923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Edit distance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77072" y="4133087"/>
            <a:ext cx="2999232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Small typo recovery when exact tokens miss.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1D1D1F"/>
                </a:solidFill>
                <a:latin typeface="Aptos"/>
              </a:rPr>
              <a:t>Real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96970"/>
                </a:solidFill>
                <a:latin typeface="Aptos"/>
              </a:rPr>
              <a:t>A title and a physical copy are intentionally separate.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24688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2104" y="1627632"/>
            <a:ext cx="109728" cy="1088136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664208"/>
            <a:ext cx="19933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121408"/>
            <a:ext cx="1993392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student_code
card_hash
role / active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463040"/>
            <a:ext cx="24688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03904" y="1627632"/>
            <a:ext cx="109728" cy="1088136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13632" y="1664208"/>
            <a:ext cx="19933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BOOKS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13632" y="2121408"/>
            <a:ext cx="1993392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title / author / ISBN
category / keywords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1463040"/>
            <a:ext cx="24688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75704" y="1627632"/>
            <a:ext cx="109728" cy="1088136"/>
          </a:xfrm>
          <a:prstGeom prst="roundRect">
            <a:avLst/>
          </a:prstGeom>
          <a:solidFill>
            <a:srgbClr val="238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85432" y="1664208"/>
            <a:ext cx="19933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BOOK COPIES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5432" y="2121408"/>
            <a:ext cx="1993392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book_id
unique barcode
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1463040"/>
            <a:ext cx="1920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747504" y="1627632"/>
            <a:ext cx="109728" cy="1088136"/>
          </a:xfrm>
          <a:prstGeom prst="roundRect">
            <a:avLst/>
          </a:prstGeom>
          <a:solidFill>
            <a:srgbClr val="785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57232" y="1664208"/>
            <a:ext cx="144475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REQUESTS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57232" y="2121408"/>
            <a:ext cx="1444752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student + book
status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03120" y="3886200"/>
            <a:ext cx="2926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249424" y="4050791"/>
            <a:ext cx="109728" cy="1133856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59152" y="4087368"/>
            <a:ext cx="24505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LOANS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59152" y="4544568"/>
            <a:ext cx="2450592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student + exact copy
issued / due / returned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3886200"/>
            <a:ext cx="29260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632704" y="4050791"/>
            <a:ext cx="109728" cy="1133856"/>
          </a:xfrm>
          <a:prstGeom prst="roundRect">
            <a:avLst/>
          </a:prstGeom>
          <a:solidFill>
            <a:srgbClr val="238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42432" y="4087368"/>
            <a:ext cx="24505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NOTIFICATIONS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42432" y="4544568"/>
            <a:ext cx="2450592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approval / issue / return
student-specific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9680" y="3886200"/>
            <a:ext cx="21945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15984" y="4050791"/>
            <a:ext cx="109728" cy="1133856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25711" y="4087368"/>
            <a:ext cx="17190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AUDIT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25711" y="4544568"/>
            <a:ext cx="1719072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who / what / when
workstation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1D1D1F"/>
                </a:solidFill>
                <a:latin typeface="Aptos"/>
              </a:rPr>
              <a:t>Production safeguards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96970"/>
                </a:solidFill>
                <a:latin typeface="Aptos"/>
              </a:rPr>
              <a:t>The core circulation paths are transactional and server-validated.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1663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2104" y="1581912"/>
            <a:ext cx="109728" cy="950976"/>
          </a:xfrm>
          <a:prstGeom prst="roundRect">
            <a:avLst/>
          </a:prstGeom>
          <a:solidFill>
            <a:srgbClr val="238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618488"/>
            <a:ext cx="46908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Secure card mapping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075688"/>
            <a:ext cx="4690872" cy="4754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Raw student card code is not stored; server uses HMAC-SHA256.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1663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9944" y="1581912"/>
            <a:ext cx="109728" cy="950976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618488"/>
            <a:ext cx="46908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Admin password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075688"/>
            <a:ext cx="4690872" cy="4754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BCrypt hash; production password comes from Render secret.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017520"/>
            <a:ext cx="51663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3182112"/>
            <a:ext cx="109728" cy="950976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218688"/>
            <a:ext cx="46908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Session tokens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3675887"/>
            <a:ext cx="4690872" cy="4754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Random tokens; only token hashes are stored.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017520"/>
            <a:ext cx="51663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9944" y="3182112"/>
            <a:ext cx="109728" cy="950976"/>
          </a:xfrm>
          <a:prstGeom prst="roundRect">
            <a:avLst/>
          </a:prstGeom>
          <a:solidFill>
            <a:srgbClr val="238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3218688"/>
            <a:ext cx="46908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Atomic issue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3675887"/>
            <a:ext cx="4690872" cy="4754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Request + copy + loan update succeeds together or rolls back.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617720"/>
            <a:ext cx="51663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2104" y="4782312"/>
            <a:ext cx="109728" cy="950976"/>
          </a:xfrm>
          <a:prstGeom prst="roundRect">
            <a:avLst/>
          </a:prstGeom>
          <a:solidFill>
            <a:srgbClr val="238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818888"/>
            <a:ext cx="46908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Double-issue protection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5276088"/>
            <a:ext cx="4690872" cy="4754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Copy row is locked while issuing/returning.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617720"/>
            <a:ext cx="51663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9944" y="4782312"/>
            <a:ext cx="109728" cy="950976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4818888"/>
            <a:ext cx="46908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Cloud secrets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5276088"/>
            <a:ext cx="4690872" cy="4754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Neon URL and pepper stay in Render environment variables.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1D1D1F"/>
                </a:solidFill>
                <a:latin typeface="Aptos"/>
              </a:rPr>
              <a:t>Production data — no fabricated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96970"/>
                </a:solidFill>
                <a:latin typeface="Aptos"/>
              </a:rPr>
              <a:t>A clean deployment starts empty except for the administrator account.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3756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7824" y="1810512"/>
            <a:ext cx="109728" cy="3236976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847088"/>
            <a:ext cx="28620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Students 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304288"/>
            <a:ext cx="2862072" cy="2761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student_code
name
card_code
email / department / year
The card code comes from the real ID barcode/QR.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33756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81144" y="1810512"/>
            <a:ext cx="109728" cy="3236976"/>
          </a:xfrm>
          <a:prstGeom prst="round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1847088"/>
            <a:ext cx="28620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Books 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2304288"/>
            <a:ext cx="2862072" cy="2761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title / author / ISBN
category / keywords
publisher / year / description
Existing ISBN records are updated.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333756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84464" y="1810512"/>
            <a:ext cx="109728" cy="3236976"/>
          </a:xfrm>
          <a:prstGeom prst="roundRect">
            <a:avLst/>
          </a:prstGeom>
          <a:solidFill>
            <a:srgbClr val="238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1847088"/>
            <a:ext cx="286207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D1D1F"/>
                </a:solidFill>
                <a:latin typeface="Aptos"/>
              </a:rPr>
              <a:t>Physical copies 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2304288"/>
            <a:ext cx="2862072" cy="2761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970"/>
                </a:solidFill>
                <a:latin typeface="Aptos"/>
              </a:rPr>
              <a:t>ISBN + unique barcode
Each physical copy is tracked separately as AVAILABLE / ISSUED / LOST / ARCHIVED.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1">
                <a:solidFill>
                  <a:srgbClr val="1D1D1F"/>
                </a:solidFill>
                <a:latin typeface="Aptos"/>
              </a:rPr>
              <a:t>Final demo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96970"/>
                </a:solidFill>
                <a:latin typeface="Aptos"/>
              </a:rPr>
              <a:t>A short demo shows the entire system, not isolated screens.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8191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071E3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00200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Aptos"/>
              </a:rPr>
              <a:t>Student scans 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1732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79" y="158191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071E3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600200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Aptos"/>
              </a:rPr>
              <a:t>Searches and requests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8191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071E3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59" y="1600200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Aptos"/>
              </a:rPr>
              <a:t>Admin approves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59" y="141732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19" y="158191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071E3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1600200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Aptos"/>
              </a:rPr>
              <a:t>Student receives live update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291839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45643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071E3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474720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Aptos"/>
              </a:rPr>
              <a:t>Admin scans ID + book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3291839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79" y="345643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071E3"/>
                </a:solidFill>
                <a:latin typeface="Apto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3474720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Aptos"/>
              </a:rPr>
              <a:t>Book appears in My Books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291839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45643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071E3"/>
                </a:solidFill>
                <a:latin typeface="Aptos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59" y="3474720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Aptos"/>
              </a:rPr>
              <a:t>Admin scans return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59" y="3291839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19" y="345643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071E3"/>
                </a:solidFill>
                <a:latin typeface="Aptos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3474720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Aptos"/>
              </a:rPr>
              <a:t>Copy becomes available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7150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D1D1F"/>
                </a:solidFill>
                <a:latin typeface="Aptos"/>
              </a:rPr>
              <a:t>IntelliLib: fast discovery + controlled physical circulation + one live source of truth.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